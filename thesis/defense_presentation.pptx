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a:t>
            </a:r>
          </a:p>
          <a:p/>
          <a:p>
            <a:r>
              <a:t>Good [morning/afternoon]. Thank you all for being here. My thesis asks a specific question: when a quantum machine learning model runs on noisy hardware, does that noise make it more vulnerable to adversarial attacks, or less? I'll walk through what I found.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a:t>
            </a:r>
          </a:p>
          <a:p/>
          <a:p>
            <a:r>
              <a:t>Variational hybrid models are the leading near-term approach to quantum machine learning, but they have to run on NISQ hardware: noisy, intermediate-scale quantum devices. Every gate and every measurement on that hardware carries error. Separately, classical deep learning has spent the last decade studying adversarial robustness, how easily a small, deliberate perturbation to an input can flip a model's prediction. Once quantum models get proposed for real classification tasks, it's fair to ask whether they inherit that same vulnerability, or whether noise changes the picture. The literature calls noise a double-edged sword. It can act like a defense, or it can just make everything worse, and nobody had tested it carefully across more than one noise type, with a fair classical comparison and real statistics. That's the gap this thesis targets: three noise channels, two attacks, two mitigation techniques, a matched classical baseline, eight seeds, and paired statistical tests, all in one study.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sec]</a:t>
            </a:r>
          </a:p>
          <a:p/>
          <a:p>
            <a:r>
              <a:t>For anyone not working with quantum circuits day to day, here's the short version. A variational quantum classifier has three parts. First, a feature map encodes your classical data, in my case four numbers, into the state of four qubits. Second, a trainable ansatz applies rotations and entangling gates to those qubits; the rotation angles are exactly analogous to the weights in a classical neural network, and they get tuned by gradient descent the same way. Third, you measure the circuit. I use a single Pauli-Z expectation value, and that number feeds into one small classical output layer that makes the final prediction. My circuit has four qubits and twenty-two trainable parameters total, and it's trained on an exact, noiseless simulator. Noise only gets introduced later, at test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a:t>
            </a:r>
          </a:p>
          <a:p/>
          <a:p>
            <a:r>
              <a:t>There isn't one kind of noise on NISQ hardware. There are several distinct physical mechanisms, and I test three of them independently. Depolarizing noise comes from imperfect gates: after a gate fires, there's some probability the qubit's state just gets replaced with a random one. Phase damping is decoherence; it destroys the quantum phase information in the state without flipping any measurement outcomes. And readout error is simpler: it's just a chance that the final measurement reports the wrong bit. I simulate all three through Qiskit Aer, at four severity levels each, and this part matters: I only add noise at inference time, on top of models that were trained without any noise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a:t>
            </a:r>
          </a:p>
          <a:p/>
          <a:p>
            <a:r>
              <a:t>The whole thesis is organized around one main question and five sub-questions. The main question: how does NISQ noise affect the adversarial robustness of a hybrid quantum-classical model? The five sub-questions break that down. Which noise type matters most. How attack success changes as noise gets stronger. Whether clean accuracy and robustness under noise actually track each other. Whether standard mitigation techniques (zero-noise extrapolation and readout calibration) can recover any lost robustness. And finally, how the whole hybrid setup stacks up against a properly matched classical baseline. Every result I show you maps back to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a:t>
            </a:r>
          </a:p>
          <a:p/>
          <a:p>
            <a:r>
              <a:t>The task is binary MNIST, just the digits zero and one, reduced from 784 raw pixels down to four principal components, one feature per qubit. That's almost fifteen thousand samples, an eighty-twenty train-test split. I picked an easy task on purpose: a plain logistic regression on these same four features gets 99.66% accuracy, and an SVM gets 99.9%. That near-perfect classical ceiling means any degradation I see later under noise or attack is coming from the noise or the attack, not from the task itself being hard.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Here are the two models side by side. The quantum classifier uses a ZZFeatureMap plus a RealAmplitudes ansatz, twenty-two trainable parameters, trained on an exact statevector simulator. The classical baseline is a small feedforward network: four inputs, eight hidden units, one output, forty-nine parameters total. I deliberately sized the classical network so its parameter count is the same order of magnitude as the quantum model's. That way, when I compare them later, nobody can argue the gap is just because one model had more capacity than the other. Same data, same split, same preprocessing, comparable budget. The only real difference is quantum versus classical.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a:t>
            </a:r>
          </a:p>
          <a:p/>
          <a:p>
            <a:r>
              <a:t>For each of the three noise channels, I swept four severity levels, from optimistic to what I call a stress test. The table shows the actual error probabilities used: depolarizing has both a single-qubit and two-qubit error rate, phase damping has a damping rate, readout has a flip probability. I kept these at comparable orders of magnitude across all three channels specifically so that when I compare which noise type matters most later, that comparison isn't just an artifact of me setting one channel harsher than the others. And again, this all happens at inference time, on checkpoints that were trained with zero noise.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For adversarial attacks, I used FGSM as the primary method. That's a single step in the direction of the loss gradient, capped at some perturbation budget epsilon. I added PGD as a stronger, iterative attack once it became clear FGSM alone didn't tell the whole story. More on that in a few slides. Both attacks were generated against the clean, noiseless model, and then those same fixed adversarial examples were evaluated under each noise condition: what's called an attack-transfer design, matching how the closest prior work sets this up. Everything runs through the Adversarial Robustness Toolbox, and gradients flow through the quantum circuit using Qiskit's parameter-shift rule.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I tested two standard mitigation techniques. Readout calibration inverts a measurement confusion matrix to correct for readout error. Zero-noise extrapolation deliberately amplifies the circuit's noise at several scale factors, then extrapolates back to what the zero-noise answer would have been. On the statistics side, every comparison in this thesis uses a paired Wilcoxon signed-rank test as the primary test, with a paired t-test as a secondary check, Cohen's d for effect size, and Benjamini-Hochberg correction wherever I'm running multiple related comparisons. All of it runs across eight seeds, and the whole statistics module is backed by its own unit tests.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a:t>
            </a:r>
          </a:p>
          <a:p/>
          <a:p>
            <a:r>
              <a:t>Before I could trust any of the noise or attack results, I had to deal with something more basic. My first working version of this quantum classifier only reached about 58% test accuracy, barely above the 53% you'd get by just guessing the majority class every time. And remember, the same four features get 99.66% under a plain logistic regression. Every single research question in this thesis assumes a model that's actually learned something, so this wasn't something I could just tune away quietly. I had to understand it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sec]</a:t>
            </a:r>
          </a:p>
          <a:p/>
          <a:p>
            <a:r>
              <a:t>I worked through this as an ordered set of falsifiable checks, cheapest first. I ruled out broken gradients, a frozen optimizer, mini-batch noise, and observable width. None of those explained it. The most useful test was a tiny-subset check: the architecture could overfit forty hand-picked points to 97.5% accuracy, but it couldn't learn a more diverse set of just two hundred points, let alone the full training set. That told me this wasn't a bug. It was a real capacity limit in the circuit. The fix that actually worked was doubling the ansatz depth, which raised the ceiling from about 58% to the low sixties. It didn't remove the ceiling, but it moved it, and it held up when I checked it on the full dataset, unlike an earlier learning-rate fix that looked promising at small scale and then completely failed to transfer. I'm reporting this as a real finding: a genuine, bounded trainability limit in a shallow quantum circuit, not an implementation bug.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a:t>
            </a:r>
          </a:p>
          <a:p/>
          <a:p>
            <a:r>
              <a:t>So here's where that ceiling lands. Across eight seeds, the quantum classifier averages 62.46% test accuracy. The classical baseline, on identical data, averages 99.83%. That's a 37-point gap, and it's not close, and there's zero overlap between the two seed distributions. The effect size here is enormous, Cohen's d of 43.7, and it's significant at the smallest p-value you can even get with eight paired seeds. This accuracy gap is the baseline every other comparison in this thesis gets measured against.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a:t>
            </a:r>
          </a:p>
          <a:p/>
          <a:p>
            <a:r>
              <a:t>But the research question isn't just about accuracy. It's about robustness. And here the story gets worse for the quantum model, not better. Under FGSM, its attack success rate runs 36 to 58%, while the classical model stays under 3% across every epsilon tested. Under the stronger PGD attack, the quantum model's attack success reaches as high as 95.7%, while the classical model still stays under 1%. The effect sizes here are large in both directions: negative ten to negative twenty for FGSM, negative ten to negative twenty-five for PGD. The important framing here: this is not a tradeoff where the quantum model gives up accuracy to gain robustness. It loses on both axes,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Now, which noise type actually matters. At the strongest severity level, depolarizing noise drags accuracy down to about 55%, phase damping to about 61%, and readout barely moves it at all: 62.4%, essentially unchanged from the noiseless baseline. All three pairwise differences are large and statistically significant. And it's not just about accuracy: depolarizing noise specifically wrecks the model's recall, dropping it over twenty points at the worst level, while precision barely moves. That's a systematic shift in how the model makes decisions, not just random noise.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 sec]</a:t>
            </a:r>
          </a:p>
          <a:p/>
          <a:p>
            <a:r>
              <a:t>Two related questions here. First, does increasing noise intensity produce a consistent trend? For clean accuracy, yes: a strong, clearly monotonic decline, especially for depolarizing noise. For attack success rate, averaged across all the epsilon values, the trend is much weaker, only borderline significant for depolarizing, and not significant at all for the other two channels. That weak average is actually a clue, and I'll come back to why in a couple of slides. Second question: does a noise condition that preserves clean accuracy also preserve robustness under attack? I tested this directly with a per-seed correlation across all fourteen noise conditions, and the answer is no detectable relationship: r of 0.27, not significant. That's a real, honestly-reported null result, not something I just didn't have the seeds to test properly.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 sec]</a:t>
            </a:r>
          </a:p>
          <a:p/>
          <a:p>
            <a:r>
              <a:t>This is probably the most important methodological result in the thesis. FGSM's attack success against the quantum model peaks at 58.4%, at epsilon 0.05. If I'd stopped there, I would have reported that this model's worst-case vulnerability tops out around 58%. But when I ran PGD, the stronger, iterative attack, at a nearby epsilon, attack success jumped to 95.7%. That's a nearly 40-point gap between what the weaker attack suggested and what the model is actually vulnerable to. The difference is statistically solid: Cohen's d from 2.6 to over 10, significant at every matched epsilon. Meanwhile the classical baseline barely notices PGD at all. The lesson: reporting adversarial robustness with only a single-step attack can be seriously misleading, and that's a caution for this field generally, not just for this thesis.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a:t>
            </a:r>
          </a:p>
          <a:p/>
          <a:p>
            <a:r>
              <a:t>This is the central finding of the whole thesis. I composed noise and attack together. I took the FGSM examples and ran them through the model under each of the fourteen noise conditions. Look at the heatmap. In the depolarizing panel, six of the seven epsilon rows get worse, meaning attack success goes up, as noise increases. But one row does the opposite: at epsilon 0.05, which is exactly where the noiseless model was already most vulnerable, more depolarizing noise actually suppresses the attack, dropping success from 58.8% down to 54%. So noise isn't uniformly good or bad for robustness here; it depends on how hard the attacker is pushing. This connects directly to the closest related paper, published in Entropy in 2026, which found a similar dual effect but across different datasets at one fixed model. What I'm finding is the same duality, but within a single model, as a function of attack strength instead.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a:t>
            </a:r>
          </a:p>
          <a:p/>
          <a:p>
            <a:r>
              <a:t>I tested two standard mitigation techniques, readout calibration and zero-noise extrapolation, against seven different noise conditions. In every single one, the improvement was not statistically significant: all the corrected p-values are at least 0.73, nowhere close to significant. If anything, the point estimates trend slightly negative. I have two candidate explanations. Readout calibration doesn't have much to fix in the first place, since readout barely touches this model's accuracy to begin with. And linear zero-noise extrapolation likely doesn't match how depolarizing noise actually decays, which behaves closer to exponential than linear at these levels. Both techniques were validated correct in isolation before I used them, so this is a real null result, not a broken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a:t>
            </a:r>
          </a:p>
          <a:p/>
          <a:p>
            <a:r>
              <a:t>Two findings really shape how I think this thesis should be read. First, the epsilon-dependent dual effect of depolarizing noise. This sharpens what the Entropy 2026 paper found across datasets into something more specific: within one model, the same noise channel can either help or hurt robustness, depending entirely on how strong the attack is. That's a less comfortable conclusion for anyone hoping to treat NISQ noise as a free, general-purpose defense. Second, the null correlation between clean accuracy and robustness under noise. Practically, that means you can't just watch an accuracy dashboard and assume it tells you anything about adversarial exposure. A noise condition can look almost harmless on accuracy while still changing how easy the model is to attack, or the reverse. Both findings push toward the same conclusion: robustness needs to be measured directly, not inferred from other numbers.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a:t>
            </a:r>
          </a:p>
          <a:p/>
          <a:p>
            <a:r>
              <a:t>I want to be direct about what this thesis doesn't cover. It's a single dataset, a four-qubit circuit, a deliberately easy binary task, and results are conditional on that scope. All the noise is simulated through Qiskit Aer, not measured on real hardware. Several of the more expensive sweeps ran on subsamples rather than the full test set, for compute-budget reasons. And probably the most consequential limitation: the adversarial examples were generated against the clean model and transferred to noisy conditions. I did not build an attacker that adapts to a known noise level. Whether that dual-effect suppression at epsilon 0.05 would survive against a smarter, noise-aware attacker is genuinely an open question. And with eight seeds, I have enough power for the paired tests I ran, but not enough to rule out small effects, which mostly affects how much weight to put on the RQ(c) null result.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a:t>
            </a:r>
          </a:p>
          <a:p/>
          <a:p>
            <a:r>
              <a:t>So, to close. NISQ noise's effect on adversarial robustness is not one thing; it depends on which noise channel you're looking at, and for the dominant channel, depolarizing noise, it even depends on how strong the attack is. Clean accuracy and robustness under noise behave as separate properties, not one predicting the other. The mitigation techniques I tested didn't recover any robustness. And the hybrid quantum-classical model loses to a matched classical baseline on both accuracy and robustness, not a tradeoff but a double disadvantage, at least at this scale. For future work, the most valuable next step is testing an adaptive, noise-aware attacker against that epsilon 0.05 effect. Beyond that: validating on real hardware, and testing a deeper or data-reuploading circuit to see whether closing the accuracy gap also closes the robustness gap.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sec]</a:t>
            </a:r>
          </a:p>
          <a:p/>
          <a:p>
            <a:r>
              <a:t>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slide. Skip past this during the timed talk; jump here only if a question calls for one of the slides behind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a:t>
            </a:r>
          </a:p>
          <a:p/>
          <a:p>
            <a:r>
              <a:t>Three things I considered and deliberately didn't do. An adaptive attacker that knows the noise level in advance. That's a real follow-up question, but differentiating through a stochastic, shot-based simulation is a much bigger undertaking than what parameter-shift gives me for free, and it didn't fit this timeline. Real hardware instead of simulation would be great for external validity, but an eight-seed, multi-level, multi-epsilon grid on real queue time and cost just isn't realistic right now. And amplitude encoding instead of angle encoding. I kept angle encoding because switching would have confounded the noise-channel comparison with an encoding effect I'm not trying to measure here; that's a separate study.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a:t>
            </a:r>
          </a:p>
          <a:p/>
          <a:p>
            <a:r>
              <a:t>Two concrete bugs, for anyone asking how much I trust my own pipeline. First, an early classical baseline was accidentally trained on the wrong task entirely, full ten-class MNIST instead of the binary task, and got 12% accuracy. I caught it before it touched any real comparison and rebuilt it properly. Second, and more subtle: the library I used to bridge Qiskit and PyTorch was drawing initial weights from PyTorch's global random state instead of the seed I was passing in, which meant two runs with the 'same seed' weren't actually starting from the same place. I fixed that by seeding the weight initialization directly, and I have a regression test that confirms two same-seed runs now produce identical results. That matters because the entire eight-seed statistical design depends on seed-to-seed variance being real.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548640" cy="548640"/>
          </a:xfrm>
          <a:prstGeom prst="rect">
            <a:avLst/>
          </a:prstGeom>
          <a:noFill/>
        </p:spPr>
        <p:txBody>
          <a:bodyPr wrap="square" anchor="t" lIns="0" rIns="0" tIns="0" bIns="0">
            <a:spAutoFit/>
          </a:bodyPr>
          <a:lstStyle/>
          <a:p>
            <a:pPr algn="l">
              <a:lnSpc>
                <a:spcPct val="100000"/>
              </a:lnSpc>
              <a:spcAft>
                <a:spcPts val="0"/>
              </a:spcAft>
            </a:pPr>
            <a:r>
              <a:rPr sz="1000" b="0" i="0">
                <a:solidFill>
                  <a:srgbClr val="1E293B"/>
                </a:solidFill>
                <a:latin typeface="Calibri"/>
              </a:rPr>
              <a:t/>
            </a:r>
          </a:p>
        </p:txBody>
      </p:sp>
      <p:sp>
        <p:nvSpPr>
          <p:cNvPr id="4" name="Rectangle 3"/>
          <p:cNvSpPr/>
          <p:nvPr/>
        </p:nvSpPr>
        <p:spPr>
          <a:xfrm>
            <a:off x="822960" y="1965960"/>
            <a:ext cx="822960"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10515600" cy="2103120"/>
          </a:xfrm>
          <a:prstGeom prst="rect">
            <a:avLst/>
          </a:prstGeom>
          <a:noFill/>
        </p:spPr>
        <p:txBody>
          <a:bodyPr wrap="square" anchor="t" lIns="0" rIns="0" tIns="0" bIns="0">
            <a:spAutoFit/>
          </a:bodyPr>
          <a:lstStyle/>
          <a:p>
            <a:pPr algn="l">
              <a:lnSpc>
                <a:spcPct val="112000"/>
              </a:lnSpc>
              <a:spcAft>
                <a:spcPts val="0"/>
              </a:spcAft>
            </a:pPr>
            <a:r>
              <a:rPr sz="3000" b="1" i="0">
                <a:solidFill>
                  <a:srgbClr val="FFFFFF"/>
                </a:solidFill>
                <a:latin typeface="Calibri"/>
              </a:rPr>
              <a:t>Experimental Analysis of Adversarial Robustness in</a:t>
            </a:r>
          </a:p>
          <a:p>
            <a:pPr algn="l">
              <a:lnSpc>
                <a:spcPct val="112000"/>
              </a:lnSpc>
              <a:spcAft>
                <a:spcPts val="0"/>
              </a:spcAft>
            </a:pPr>
            <a:r>
              <a:rPr sz="3000" b="1" i="0">
                <a:solidFill>
                  <a:srgbClr val="FFFFFF"/>
                </a:solidFill>
                <a:latin typeface="Calibri"/>
              </a:rPr>
              <a:t>Variational Hybrid Quantum-Classical Machine</a:t>
            </a:r>
          </a:p>
          <a:p>
            <a:pPr algn="l">
              <a:lnSpc>
                <a:spcPct val="112000"/>
              </a:lnSpc>
              <a:spcAft>
                <a:spcPts val="0"/>
              </a:spcAft>
            </a:pPr>
            <a:r>
              <a:rPr sz="3000" b="1" i="0">
                <a:solidFill>
                  <a:srgbClr val="FFFFFF"/>
                </a:solidFill>
                <a:latin typeface="Calibri"/>
              </a:rPr>
              <a:t>Learning Models Under NISQ Noise</a:t>
            </a:r>
          </a:p>
        </p:txBody>
      </p:sp>
      <p:sp>
        <p:nvSpPr>
          <p:cNvPr id="6" name="TextBox 5"/>
          <p:cNvSpPr txBox="1"/>
          <p:nvPr/>
        </p:nvSpPr>
        <p:spPr>
          <a:xfrm>
            <a:off x="822960" y="4343400"/>
            <a:ext cx="9144000" cy="457200"/>
          </a:xfrm>
          <a:prstGeom prst="rect">
            <a:avLst/>
          </a:prstGeom>
          <a:noFill/>
        </p:spPr>
        <p:txBody>
          <a:bodyPr wrap="square" anchor="t" lIns="0" rIns="0" tIns="0" bIns="0">
            <a:spAutoFit/>
          </a:bodyPr>
          <a:lstStyle/>
          <a:p>
            <a:pPr algn="l">
              <a:lnSpc>
                <a:spcPct val="100000"/>
              </a:lnSpc>
              <a:spcAft>
                <a:spcPts val="0"/>
              </a:spcAft>
            </a:pPr>
            <a:r>
              <a:rPr sz="1700" b="0" i="0">
                <a:solidFill>
                  <a:srgbClr val="B9C4D4"/>
                </a:solidFill>
                <a:latin typeface="Calibri"/>
              </a:rPr>
              <a:t>Master's Thesis Defense</a:t>
            </a:r>
          </a:p>
        </p:txBody>
      </p:sp>
      <p:sp>
        <p:nvSpPr>
          <p:cNvPr id="7" name="TextBox 6"/>
          <p:cNvSpPr txBox="1"/>
          <p:nvPr/>
        </p:nvSpPr>
        <p:spPr>
          <a:xfrm>
            <a:off x="822960" y="5852160"/>
            <a:ext cx="54864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Jitendra Neelam</a:t>
            </a:r>
          </a:p>
        </p:txBody>
      </p:sp>
      <p:sp>
        <p:nvSpPr>
          <p:cNvPr id="8" name="TextBox 7"/>
          <p:cNvSpPr txBox="1"/>
          <p:nvPr/>
        </p:nvSpPr>
        <p:spPr>
          <a:xfrm>
            <a:off x="822960" y="6172200"/>
            <a:ext cx="5486400" cy="320040"/>
          </a:xfrm>
          <a:prstGeom prst="rect">
            <a:avLst/>
          </a:prstGeom>
          <a:noFill/>
        </p:spPr>
        <p:txBody>
          <a:bodyPr wrap="square" anchor="t" lIns="0" rIns="0" tIns="0" bIns="0">
            <a:spAutoFit/>
          </a:bodyPr>
          <a:lstStyle/>
          <a:p>
            <a:pPr algn="l">
              <a:lnSpc>
                <a:spcPct val="100000"/>
              </a:lnSpc>
              <a:spcAft>
                <a:spcPts val="0"/>
              </a:spcAft>
            </a:pPr>
            <a:r>
              <a:rPr sz="1200" b="0" i="1">
                <a:solidFill>
                  <a:srgbClr val="8A94A6"/>
                </a:solidFill>
                <a:latin typeface="Calibri"/>
              </a:rPr>
              <a:t>[Committee / Department]  ·  [Defense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MOTIVATION</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Does NISQ noise help or hurt adversarial robustness in quantum classifiers?</a:t>
            </a:r>
          </a:p>
        </p:txBody>
      </p:sp>
      <p:sp>
        <p:nvSpPr>
          <p:cNvPr id="6" name="TextBox 5"/>
          <p:cNvSpPr txBox="1"/>
          <p:nvPr/>
        </p:nvSpPr>
        <p:spPr>
          <a:xfrm>
            <a:off x="548640" y="2103120"/>
            <a:ext cx="10972800" cy="3840480"/>
          </a:xfrm>
          <a:prstGeom prst="rect">
            <a:avLst/>
          </a:prstGeom>
          <a:noFill/>
        </p:spPr>
        <p:txBody>
          <a:bodyPr wrap="square" lIns="0" rIns="0" tIns="0" bIns="0">
            <a:spAutoFit/>
          </a:bodyPr>
          <a:lstStyle/>
          <a:p>
            <a:pPr>
              <a:lnSpc>
                <a:spcPct val="108000"/>
              </a:lnSpc>
              <a:spcAft>
                <a:spcPts val="1400"/>
              </a:spcAft>
            </a:pPr>
            <a:r>
              <a:rPr sz="1700" b="1">
                <a:solidFill>
                  <a:srgbClr val="1E293B"/>
                </a:solidFill>
                <a:latin typeface="Calibri"/>
              </a:rPr>
              <a:t>•  Variational hybrid models</a:t>
            </a:r>
            <a:r>
              <a:rPr sz="1700" b="0">
                <a:solidFill>
                  <a:srgbClr val="475569"/>
                </a:solidFill>
                <a:latin typeface="Calibri"/>
              </a:rPr>
              <a:t>  are the leading near-term quantum machine learning architecture, but they must run on noisy intermediate-scale quantum (NISQ) hardware.</a:t>
            </a:r>
          </a:p>
          <a:p>
            <a:pPr>
              <a:lnSpc>
                <a:spcPct val="108000"/>
              </a:lnSpc>
              <a:spcAft>
                <a:spcPts val="1400"/>
              </a:spcAft>
            </a:pPr>
            <a:r>
              <a:rPr sz="1700" b="1">
                <a:solidFill>
                  <a:srgbClr val="1E293B"/>
                </a:solidFill>
                <a:latin typeface="Calibri"/>
              </a:rPr>
              <a:t>•  Adversarial robustness</a:t>
            </a:r>
            <a:r>
              <a:rPr sz="1700" b="0">
                <a:solidFill>
                  <a:srgbClr val="475569"/>
                </a:solidFill>
                <a:latin typeface="Calibri"/>
              </a:rPr>
              <a:t>  has been studied in classical deep learning for a decade. Whether the same vulnerability transfers to noisy quantum models is still unresolved.</a:t>
            </a:r>
          </a:p>
          <a:p>
            <a:pPr>
              <a:lnSpc>
                <a:spcPct val="108000"/>
              </a:lnSpc>
              <a:spcAft>
                <a:spcPts val="1400"/>
              </a:spcAft>
            </a:pPr>
            <a:r>
              <a:rPr sz="1700" b="1">
                <a:solidFill>
                  <a:srgbClr val="1E293B"/>
                </a:solidFill>
                <a:latin typeface="Calibri"/>
              </a:rPr>
              <a:t>•  Noise as a double-edged sword:</a:t>
            </a:r>
            <a:r>
              <a:rPr sz="1700" b="0">
                <a:solidFill>
                  <a:srgbClr val="475569"/>
                </a:solidFill>
                <a:latin typeface="Calibri"/>
              </a:rPr>
              <a:t>  it can degrade accuracy outright, or act like an implicit defense against gradient-based attacks. The literature has only just started testing this rigorously.</a:t>
            </a:r>
          </a:p>
          <a:p>
            <a:pPr>
              <a:lnSpc>
                <a:spcPct val="108000"/>
              </a:lnSpc>
              <a:spcAft>
                <a:spcPts val="1400"/>
              </a:spcAft>
            </a:pPr>
            <a:r>
              <a:rPr sz="1700" b="1">
                <a:solidFill>
                  <a:srgbClr val="1E293B"/>
                </a:solidFill>
                <a:latin typeface="Calibri"/>
              </a:rPr>
              <a:t>•  This thesis:</a:t>
            </a:r>
            <a:r>
              <a:rPr sz="1700" b="0">
                <a:solidFill>
                  <a:srgbClr val="475569"/>
                </a:solidFill>
                <a:latin typeface="Calibri"/>
              </a:rPr>
              <a:t>  3 noise channels, 2 attacks (FGSM, PGD), 2 mitigation techniques, a matched classical baseline, 8 seeds, and paired statistics, a combination no prior study was found to test together.</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Introduction</a:t>
            </a:r>
          </a:p>
        </p:txBody>
      </p:sp>
      <p:sp>
        <p:nvSpPr>
          <p:cNvPr id="8" name="TextBox 7"/>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BACKGROUND</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A variational quantum classifier: data in, a trained circuit, a prediction out</a:t>
            </a:r>
          </a:p>
        </p:txBody>
      </p:sp>
      <p:sp>
        <p:nvSpPr>
          <p:cNvPr id="6" name="Rounded Rectangle 5"/>
          <p:cNvSpPr/>
          <p:nvPr/>
        </p:nvSpPr>
        <p:spPr>
          <a:xfrm>
            <a:off x="548640" y="2148840"/>
            <a:ext cx="2331720" cy="1051560"/>
          </a:xfrm>
          <a:prstGeom prst="roundRect">
            <a:avLst/>
          </a:prstGeom>
          <a:solidFill>
            <a:srgbClr val="F6F8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E293B"/>
                </a:solidFill>
                <a:latin typeface="Calibri"/>
              </a:rPr>
              <a:t>Feature map</a:t>
            </a:r>
          </a:p>
          <a:p>
            <a:pPr algn="ctr"/>
            <a:r>
              <a:rPr sz="1050">
                <a:solidFill>
                  <a:srgbClr val="475569"/>
                </a:solidFill>
                <a:latin typeface="Calibri"/>
              </a:rPr>
              <a:t>Encodes 4 classical
features into 4 qubits
(ZZFeatureMap)</a:t>
            </a:r>
          </a:p>
        </p:txBody>
      </p:sp>
      <p:sp>
        <p:nvSpPr>
          <p:cNvPr id="7" name="Right Arrow 6"/>
          <p:cNvSpPr/>
          <p:nvPr/>
        </p:nvSpPr>
        <p:spPr>
          <a:xfrm>
            <a:off x="2880360" y="2532888"/>
            <a:ext cx="320040" cy="27432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200400" y="2148840"/>
            <a:ext cx="2331720" cy="1051560"/>
          </a:xfrm>
          <a:prstGeom prst="roundRect">
            <a:avLst/>
          </a:prstGeom>
          <a:solidFill>
            <a:srgbClr val="F6F8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E293B"/>
                </a:solidFill>
                <a:latin typeface="Calibri"/>
              </a:rPr>
              <a:t>Ansatz</a:t>
            </a:r>
          </a:p>
          <a:p>
            <a:pPr algn="ctr"/>
            <a:r>
              <a:rPr sz="1050">
                <a:solidFill>
                  <a:srgbClr val="475569"/>
                </a:solidFill>
                <a:latin typeface="Calibri"/>
              </a:rPr>
              <a:t>Trainable rotations +
entangling gates
(RealAmplitudes)</a:t>
            </a:r>
          </a:p>
        </p:txBody>
      </p:sp>
      <p:sp>
        <p:nvSpPr>
          <p:cNvPr id="9" name="Right Arrow 8"/>
          <p:cNvSpPr/>
          <p:nvPr/>
        </p:nvSpPr>
        <p:spPr>
          <a:xfrm>
            <a:off x="5532120" y="2532888"/>
            <a:ext cx="320040" cy="27432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52160" y="2148840"/>
            <a:ext cx="2331720" cy="1051560"/>
          </a:xfrm>
          <a:prstGeom prst="roundRect">
            <a:avLst/>
          </a:prstGeom>
          <a:solidFill>
            <a:srgbClr val="F6F8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E293B"/>
                </a:solidFill>
                <a:latin typeface="Calibri"/>
              </a:rPr>
              <a:t>Measurement</a:t>
            </a:r>
          </a:p>
          <a:p>
            <a:pPr algn="ctr"/>
            <a:r>
              <a:rPr sz="1050">
                <a:solidFill>
                  <a:srgbClr val="475569"/>
                </a:solidFill>
                <a:latin typeface="Calibri"/>
              </a:rPr>
              <a:t>Reads out a Pauli-Z
expectation value</a:t>
            </a:r>
          </a:p>
        </p:txBody>
      </p:sp>
      <p:sp>
        <p:nvSpPr>
          <p:cNvPr id="11" name="Right Arrow 10"/>
          <p:cNvSpPr/>
          <p:nvPr/>
        </p:nvSpPr>
        <p:spPr>
          <a:xfrm>
            <a:off x="8183880" y="2532888"/>
            <a:ext cx="320040" cy="27432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503920" y="2148840"/>
            <a:ext cx="2331720" cy="1051560"/>
          </a:xfrm>
          <a:prstGeom prst="roundRect">
            <a:avLst/>
          </a:prstGeom>
          <a:solidFill>
            <a:srgbClr val="F6F8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E293B"/>
                </a:solidFill>
                <a:latin typeface="Calibri"/>
              </a:rPr>
              <a:t>Classical head</a:t>
            </a:r>
          </a:p>
          <a:p>
            <a:pPr algn="ctr"/>
            <a:r>
              <a:rPr sz="1050">
                <a:solidFill>
                  <a:srgbClr val="475569"/>
                </a:solidFill>
                <a:latin typeface="Calibri"/>
              </a:rPr>
              <a:t>Linear(1→1) + sigmoid
→ predicted class</a:t>
            </a:r>
          </a:p>
        </p:txBody>
      </p:sp>
      <p:sp>
        <p:nvSpPr>
          <p:cNvPr id="13" name="TextBox 12"/>
          <p:cNvSpPr txBox="1"/>
          <p:nvPr/>
        </p:nvSpPr>
        <p:spPr>
          <a:xfrm>
            <a:off x="548640" y="3520440"/>
            <a:ext cx="10972800" cy="2468880"/>
          </a:xfrm>
          <a:prstGeom prst="rect">
            <a:avLst/>
          </a:prstGeom>
          <a:noFill/>
        </p:spPr>
        <p:txBody>
          <a:bodyPr wrap="square" lIns="0" rIns="0" tIns="0" bIns="0">
            <a:spAutoFit/>
          </a:bodyPr>
          <a:lstStyle/>
          <a:p>
            <a:pPr>
              <a:lnSpc>
                <a:spcPct val="108000"/>
              </a:lnSpc>
              <a:spcAft>
                <a:spcPts val="1200"/>
              </a:spcAft>
            </a:pPr>
            <a:r>
              <a:rPr sz="1600" b="0">
                <a:solidFill>
                  <a:srgbClr val="475569"/>
                </a:solidFill>
                <a:latin typeface="Calibri"/>
              </a:rPr>
              <a:t>•  A parameterized quantum circuit plays the role a classical layer would: its rotation angles are the trainable weights.</a:t>
            </a:r>
          </a:p>
          <a:p>
            <a:pPr>
              <a:lnSpc>
                <a:spcPct val="108000"/>
              </a:lnSpc>
              <a:spcAft>
                <a:spcPts val="1200"/>
              </a:spcAft>
            </a:pPr>
            <a:r>
              <a:rPr sz="1600" b="0">
                <a:solidFill>
                  <a:srgbClr val="475569"/>
                </a:solidFill>
                <a:latin typeface="Calibri"/>
              </a:rPr>
              <a:t>•  Gradients come from Qiskit's parameter-shift rule, the same differentiation path used later by the FGSM/PGD attacks.</a:t>
            </a:r>
          </a:p>
          <a:p>
            <a:pPr>
              <a:lnSpc>
                <a:spcPct val="108000"/>
              </a:lnSpc>
              <a:spcAft>
                <a:spcPts val="1200"/>
              </a:spcAft>
            </a:pPr>
            <a:r>
              <a:rPr sz="1600" b="1">
                <a:solidFill>
                  <a:srgbClr val="1E293B"/>
                </a:solidFill>
                <a:latin typeface="Calibri"/>
              </a:rPr>
              <a:t>•  This thesis's VQC:</a:t>
            </a:r>
            <a:r>
              <a:rPr sz="1600" b="0">
                <a:solidFill>
                  <a:srgbClr val="475569"/>
                </a:solidFill>
                <a:latin typeface="Calibri"/>
              </a:rPr>
              <a:t>  4 qubits, 22 trainable parameters (20 ansatz weights + 2 classical head), trained on an exact, noiseless statevector simulator.</a:t>
            </a:r>
          </a:p>
        </p:txBody>
      </p:sp>
      <p:sp>
        <p:nvSpPr>
          <p:cNvPr id="14" name="TextBox 13"/>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Background</a:t>
            </a:r>
          </a:p>
        </p:txBody>
      </p:sp>
      <p:sp>
        <p:nvSpPr>
          <p:cNvPr id="15" name="TextBox 14"/>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BACKGROUND</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Every NISQ circuit runs through imperfect gates and imperfect measurement</a:t>
            </a:r>
          </a:p>
        </p:txBody>
      </p:sp>
      <p:sp>
        <p:nvSpPr>
          <p:cNvPr id="6" name="Rounded Rectangle 5"/>
          <p:cNvSpPr/>
          <p:nvPr/>
        </p:nvSpPr>
        <p:spPr>
          <a:xfrm>
            <a:off x="548640" y="2148840"/>
            <a:ext cx="3520440" cy="2331720"/>
          </a:xfrm>
          <a:prstGeom prst="roundRect">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a:lstStyle/>
          <a:p>
            <a:pPr algn="ctr"/>
            <a:r>
              <a:rPr b="1" sz="1600">
                <a:solidFill>
                  <a:srgbClr val="0A5C56"/>
                </a:solidFill>
                <a:latin typeface="Calibri"/>
              </a:rPr>
              <a:t>Depolarizing noise</a:t>
            </a:r>
          </a:p>
          <a:p>
            <a:pPr>
              <a:lnSpc>
                <a:spcPct val="115000"/>
              </a:lnSpc>
              <a:spcBef>
                <a:spcPts val="800"/>
              </a:spcBef>
            </a:pPr>
            <a:r>
              <a:rPr sz="1300">
                <a:solidFill>
                  <a:srgbClr val="475569"/>
                </a:solidFill>
                <a:latin typeface="Calibri"/>
              </a:rPr>
              <a:t>After a gate, the qubit state is replaced by a fully mixed (random) state with some probability. Models imperfect gate operations.</a:t>
            </a:r>
          </a:p>
        </p:txBody>
      </p:sp>
      <p:sp>
        <p:nvSpPr>
          <p:cNvPr id="7" name="Rounded Rectangle 6"/>
          <p:cNvSpPr/>
          <p:nvPr/>
        </p:nvSpPr>
        <p:spPr>
          <a:xfrm>
            <a:off x="4297680" y="2148840"/>
            <a:ext cx="3520440" cy="2331720"/>
          </a:xfrm>
          <a:prstGeom prst="roundRect">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a:lstStyle/>
          <a:p>
            <a:pPr algn="ctr"/>
            <a:r>
              <a:rPr b="1" sz="1600">
                <a:solidFill>
                  <a:srgbClr val="0A5C56"/>
                </a:solidFill>
                <a:latin typeface="Calibri"/>
              </a:rPr>
              <a:t>Phase damping</a:t>
            </a:r>
          </a:p>
          <a:p>
            <a:pPr>
              <a:lnSpc>
                <a:spcPct val="115000"/>
              </a:lnSpc>
              <a:spcBef>
                <a:spcPts val="800"/>
              </a:spcBef>
            </a:pPr>
            <a:r>
              <a:rPr sz="1300">
                <a:solidFill>
                  <a:srgbClr val="475569"/>
                </a:solidFill>
                <a:latin typeface="Calibri"/>
              </a:rPr>
              <a:t>Decoherence that destroys quantum phase information without flipping outcomes: pure dephasing, no bit-flip.</a:t>
            </a:r>
          </a:p>
        </p:txBody>
      </p:sp>
      <p:sp>
        <p:nvSpPr>
          <p:cNvPr id="8" name="Rounded Rectangle 7"/>
          <p:cNvSpPr/>
          <p:nvPr/>
        </p:nvSpPr>
        <p:spPr>
          <a:xfrm>
            <a:off x="8046720" y="2148840"/>
            <a:ext cx="3520440" cy="2331720"/>
          </a:xfrm>
          <a:prstGeom prst="roundRect">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a:lstStyle/>
          <a:p>
            <a:pPr algn="ctr"/>
            <a:r>
              <a:rPr b="1" sz="1600">
                <a:solidFill>
                  <a:srgbClr val="0A5C56"/>
                </a:solidFill>
                <a:latin typeface="Calibri"/>
              </a:rPr>
              <a:t>Readout error</a:t>
            </a:r>
          </a:p>
          <a:p>
            <a:pPr>
              <a:lnSpc>
                <a:spcPct val="115000"/>
              </a:lnSpc>
              <a:spcBef>
                <a:spcPts val="800"/>
              </a:spcBef>
            </a:pPr>
            <a:r>
              <a:rPr sz="1300">
                <a:solidFill>
                  <a:srgbClr val="475569"/>
                </a:solidFill>
                <a:latin typeface="Calibri"/>
              </a:rPr>
              <a:t>The final measurement misreports the true outcome with some probability, a classical bit-flip on the measured result.</a:t>
            </a:r>
          </a:p>
        </p:txBody>
      </p:sp>
      <p:sp>
        <p:nvSpPr>
          <p:cNvPr id="9" name="TextBox 8"/>
          <p:cNvSpPr txBox="1"/>
          <p:nvPr/>
        </p:nvSpPr>
        <p:spPr>
          <a:xfrm>
            <a:off x="548640" y="4709160"/>
            <a:ext cx="10972800" cy="1280160"/>
          </a:xfrm>
          <a:prstGeom prst="rect">
            <a:avLst/>
          </a:prstGeom>
          <a:noFill/>
        </p:spPr>
        <p:txBody>
          <a:bodyPr wrap="square" lIns="0" rIns="0" tIns="0" bIns="0">
            <a:spAutoFit/>
          </a:bodyPr>
          <a:lstStyle/>
          <a:p>
            <a:pPr>
              <a:lnSpc>
                <a:spcPct val="108000"/>
              </a:lnSpc>
              <a:spcAft>
                <a:spcPts val="0"/>
              </a:spcAft>
            </a:pPr>
            <a:r>
              <a:rPr sz="1500" b="0">
                <a:solidFill>
                  <a:srgbClr val="475569"/>
                </a:solidFill>
                <a:latin typeface="Calibri"/>
              </a:rPr>
              <a:t>•  All three are simulated independently via Qiskit Aer, at four severity levels (optimistic to stress-test), applied only at inference time on fixed, noiselessly-trained checkpoints.</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Background</a:t>
            </a:r>
          </a:p>
        </p:txBody>
      </p:sp>
      <p:sp>
        <p:nvSpPr>
          <p:cNvPr id="11" name="TextBox 10"/>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RESEARCH QUESTIONS</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One main question, five sub-questions</a:t>
            </a:r>
          </a:p>
        </p:txBody>
      </p:sp>
      <p:sp>
        <p:nvSpPr>
          <p:cNvPr id="6" name="Rounded Rectangle 5"/>
          <p:cNvSpPr/>
          <p:nvPr/>
        </p:nvSpPr>
        <p:spPr>
          <a:xfrm>
            <a:off x="548640" y="2011680"/>
            <a:ext cx="11064240" cy="868680"/>
          </a:xfrm>
          <a:prstGeom prst="roundRect">
            <a:avLst/>
          </a:prstGeom>
          <a:solidFill>
            <a:srgbClr val="EAF6F4"/>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a:solidFill>
                  <a:srgbClr val="0A5C56"/>
                </a:solidFill>
                <a:latin typeface="Calibri"/>
              </a:rPr>
              <a:t>Main RQ:  How does NISQ hardware noise affect the adversarial robustness of variational hybrid quantum-classical machine learning models?</a:t>
            </a:r>
          </a:p>
        </p:txBody>
      </p:sp>
      <p:sp>
        <p:nvSpPr>
          <p:cNvPr id="7" name="TextBox 6"/>
          <p:cNvSpPr txBox="1"/>
          <p:nvPr/>
        </p:nvSpPr>
        <p:spPr>
          <a:xfrm>
            <a:off x="548640" y="3154680"/>
            <a:ext cx="548640" cy="548640"/>
          </a:xfrm>
          <a:prstGeom prst="rect">
            <a:avLst/>
          </a:prstGeom>
          <a:noFill/>
        </p:spPr>
        <p:txBody>
          <a:bodyPr wrap="square" anchor="t" lIns="0" rIns="0" tIns="0" bIns="0">
            <a:spAutoFit/>
          </a:bodyPr>
          <a:lstStyle/>
          <a:p>
            <a:pPr algn="l">
              <a:lnSpc>
                <a:spcPct val="100000"/>
              </a:lnSpc>
              <a:spcAft>
                <a:spcPts val="0"/>
              </a:spcAft>
            </a:pPr>
            <a:r>
              <a:rPr sz="1700" b="1" i="0">
                <a:solidFill>
                  <a:srgbClr val="0D9488"/>
                </a:solidFill>
                <a:latin typeface="Calibri"/>
              </a:rPr>
              <a:t>(a)</a:t>
            </a:r>
          </a:p>
        </p:txBody>
      </p:sp>
      <p:sp>
        <p:nvSpPr>
          <p:cNvPr id="8" name="TextBox 7"/>
          <p:cNvSpPr txBox="1"/>
          <p:nvPr/>
        </p:nvSpPr>
        <p:spPr>
          <a:xfrm>
            <a:off x="1143000" y="3154680"/>
            <a:ext cx="10241280" cy="548640"/>
          </a:xfrm>
          <a:prstGeom prst="rect">
            <a:avLst/>
          </a:prstGeom>
          <a:noFill/>
        </p:spPr>
        <p:txBody>
          <a:bodyPr wrap="square" anchor="t" lIns="0" rIns="0" tIns="0" bIns="0">
            <a:spAutoFit/>
          </a:bodyPr>
          <a:lstStyle/>
          <a:p>
            <a:pPr algn="l">
              <a:lnSpc>
                <a:spcPct val="100000"/>
              </a:lnSpc>
              <a:spcAft>
                <a:spcPts val="0"/>
              </a:spcAft>
            </a:pPr>
            <a:r>
              <a:rPr sz="1600" b="0" i="0">
                <a:solidFill>
                  <a:srgbClr val="1E293B"/>
                </a:solidFill>
                <a:latin typeface="Calibri"/>
              </a:rPr>
              <a:t>Which noise type (depolarizing, phase damping, or readout) matters most?</a:t>
            </a:r>
          </a:p>
        </p:txBody>
      </p:sp>
      <p:sp>
        <p:nvSpPr>
          <p:cNvPr id="9" name="TextBox 8"/>
          <p:cNvSpPr txBox="1"/>
          <p:nvPr/>
        </p:nvSpPr>
        <p:spPr>
          <a:xfrm>
            <a:off x="548640" y="3813048"/>
            <a:ext cx="548640" cy="548640"/>
          </a:xfrm>
          <a:prstGeom prst="rect">
            <a:avLst/>
          </a:prstGeom>
          <a:noFill/>
        </p:spPr>
        <p:txBody>
          <a:bodyPr wrap="square" anchor="t" lIns="0" rIns="0" tIns="0" bIns="0">
            <a:spAutoFit/>
          </a:bodyPr>
          <a:lstStyle/>
          <a:p>
            <a:pPr algn="l">
              <a:lnSpc>
                <a:spcPct val="100000"/>
              </a:lnSpc>
              <a:spcAft>
                <a:spcPts val="0"/>
              </a:spcAft>
            </a:pPr>
            <a:r>
              <a:rPr sz="1700" b="1" i="0">
                <a:solidFill>
                  <a:srgbClr val="0D9488"/>
                </a:solidFill>
                <a:latin typeface="Calibri"/>
              </a:rPr>
              <a:t>(b)</a:t>
            </a:r>
          </a:p>
        </p:txBody>
      </p:sp>
      <p:sp>
        <p:nvSpPr>
          <p:cNvPr id="10" name="TextBox 9"/>
          <p:cNvSpPr txBox="1"/>
          <p:nvPr/>
        </p:nvSpPr>
        <p:spPr>
          <a:xfrm>
            <a:off x="1143000" y="3813048"/>
            <a:ext cx="10241280" cy="548640"/>
          </a:xfrm>
          <a:prstGeom prst="rect">
            <a:avLst/>
          </a:prstGeom>
          <a:noFill/>
        </p:spPr>
        <p:txBody>
          <a:bodyPr wrap="square" anchor="t" lIns="0" rIns="0" tIns="0" bIns="0">
            <a:spAutoFit/>
          </a:bodyPr>
          <a:lstStyle/>
          <a:p>
            <a:pPr algn="l">
              <a:lnSpc>
                <a:spcPct val="100000"/>
              </a:lnSpc>
              <a:spcAft>
                <a:spcPts val="0"/>
              </a:spcAft>
            </a:pPr>
            <a:r>
              <a:rPr sz="1600" b="0" i="0">
                <a:solidFill>
                  <a:srgbClr val="1E293B"/>
                </a:solidFill>
                <a:latin typeface="Calibri"/>
              </a:rPr>
              <a:t>How does increasing noise intensity affect adversarial attack success?</a:t>
            </a:r>
          </a:p>
        </p:txBody>
      </p:sp>
      <p:sp>
        <p:nvSpPr>
          <p:cNvPr id="11" name="TextBox 10"/>
          <p:cNvSpPr txBox="1"/>
          <p:nvPr/>
        </p:nvSpPr>
        <p:spPr>
          <a:xfrm>
            <a:off x="548640" y="4471416"/>
            <a:ext cx="548640" cy="548640"/>
          </a:xfrm>
          <a:prstGeom prst="rect">
            <a:avLst/>
          </a:prstGeom>
          <a:noFill/>
        </p:spPr>
        <p:txBody>
          <a:bodyPr wrap="square" anchor="t" lIns="0" rIns="0" tIns="0" bIns="0">
            <a:spAutoFit/>
          </a:bodyPr>
          <a:lstStyle/>
          <a:p>
            <a:pPr algn="l">
              <a:lnSpc>
                <a:spcPct val="100000"/>
              </a:lnSpc>
              <a:spcAft>
                <a:spcPts val="0"/>
              </a:spcAft>
            </a:pPr>
            <a:r>
              <a:rPr sz="1700" b="1" i="0">
                <a:solidFill>
                  <a:srgbClr val="0D9488"/>
                </a:solidFill>
                <a:latin typeface="Calibri"/>
              </a:rPr>
              <a:t>(c)</a:t>
            </a:r>
          </a:p>
        </p:txBody>
      </p:sp>
      <p:sp>
        <p:nvSpPr>
          <p:cNvPr id="12" name="TextBox 11"/>
          <p:cNvSpPr txBox="1"/>
          <p:nvPr/>
        </p:nvSpPr>
        <p:spPr>
          <a:xfrm>
            <a:off x="1143000" y="4471416"/>
            <a:ext cx="10241280" cy="548640"/>
          </a:xfrm>
          <a:prstGeom prst="rect">
            <a:avLst/>
          </a:prstGeom>
          <a:noFill/>
        </p:spPr>
        <p:txBody>
          <a:bodyPr wrap="square" anchor="t" lIns="0" rIns="0" tIns="0" bIns="0">
            <a:spAutoFit/>
          </a:bodyPr>
          <a:lstStyle/>
          <a:p>
            <a:pPr algn="l">
              <a:lnSpc>
                <a:spcPct val="100000"/>
              </a:lnSpc>
              <a:spcAft>
                <a:spcPts val="0"/>
              </a:spcAft>
            </a:pPr>
            <a:r>
              <a:rPr sz="1600" b="0" i="0">
                <a:solidFill>
                  <a:srgbClr val="1E293B"/>
                </a:solidFill>
                <a:latin typeface="Calibri"/>
              </a:rPr>
              <a:t>What is the relationship between clean accuracy and robustness under noise?</a:t>
            </a:r>
          </a:p>
        </p:txBody>
      </p:sp>
      <p:sp>
        <p:nvSpPr>
          <p:cNvPr id="13" name="TextBox 12"/>
          <p:cNvSpPr txBox="1"/>
          <p:nvPr/>
        </p:nvSpPr>
        <p:spPr>
          <a:xfrm>
            <a:off x="548640" y="5129784"/>
            <a:ext cx="548640" cy="548640"/>
          </a:xfrm>
          <a:prstGeom prst="rect">
            <a:avLst/>
          </a:prstGeom>
          <a:noFill/>
        </p:spPr>
        <p:txBody>
          <a:bodyPr wrap="square" anchor="t" lIns="0" rIns="0" tIns="0" bIns="0">
            <a:spAutoFit/>
          </a:bodyPr>
          <a:lstStyle/>
          <a:p>
            <a:pPr algn="l">
              <a:lnSpc>
                <a:spcPct val="100000"/>
              </a:lnSpc>
              <a:spcAft>
                <a:spcPts val="0"/>
              </a:spcAft>
            </a:pPr>
            <a:r>
              <a:rPr sz="1700" b="1" i="0">
                <a:solidFill>
                  <a:srgbClr val="0D9488"/>
                </a:solidFill>
                <a:latin typeface="Calibri"/>
              </a:rPr>
              <a:t>(d)</a:t>
            </a:r>
          </a:p>
        </p:txBody>
      </p:sp>
      <p:sp>
        <p:nvSpPr>
          <p:cNvPr id="14" name="TextBox 13"/>
          <p:cNvSpPr txBox="1"/>
          <p:nvPr/>
        </p:nvSpPr>
        <p:spPr>
          <a:xfrm>
            <a:off x="1143000" y="5129784"/>
            <a:ext cx="10241280" cy="548640"/>
          </a:xfrm>
          <a:prstGeom prst="rect">
            <a:avLst/>
          </a:prstGeom>
          <a:noFill/>
        </p:spPr>
        <p:txBody>
          <a:bodyPr wrap="square" anchor="t" lIns="0" rIns="0" tIns="0" bIns="0">
            <a:spAutoFit/>
          </a:bodyPr>
          <a:lstStyle/>
          <a:p>
            <a:pPr algn="l">
              <a:lnSpc>
                <a:spcPct val="100000"/>
              </a:lnSpc>
              <a:spcAft>
                <a:spcPts val="0"/>
              </a:spcAft>
            </a:pPr>
            <a:r>
              <a:rPr sz="1600" b="0" i="0">
                <a:solidFill>
                  <a:srgbClr val="1E293B"/>
                </a:solidFill>
                <a:latin typeface="Calibri"/>
              </a:rPr>
              <a:t>Can inference-time mitigation (ZNE, readout calibration) improve robustness?</a:t>
            </a:r>
          </a:p>
        </p:txBody>
      </p:sp>
      <p:sp>
        <p:nvSpPr>
          <p:cNvPr id="15" name="TextBox 14"/>
          <p:cNvSpPr txBox="1"/>
          <p:nvPr/>
        </p:nvSpPr>
        <p:spPr>
          <a:xfrm>
            <a:off x="548640" y="5788152"/>
            <a:ext cx="548640" cy="548640"/>
          </a:xfrm>
          <a:prstGeom prst="rect">
            <a:avLst/>
          </a:prstGeom>
          <a:noFill/>
        </p:spPr>
        <p:txBody>
          <a:bodyPr wrap="square" anchor="t" lIns="0" rIns="0" tIns="0" bIns="0">
            <a:spAutoFit/>
          </a:bodyPr>
          <a:lstStyle/>
          <a:p>
            <a:pPr algn="l">
              <a:lnSpc>
                <a:spcPct val="100000"/>
              </a:lnSpc>
              <a:spcAft>
                <a:spcPts val="0"/>
              </a:spcAft>
            </a:pPr>
            <a:r>
              <a:rPr sz="1700" b="1" i="0">
                <a:solidFill>
                  <a:srgbClr val="0D9488"/>
                </a:solidFill>
                <a:latin typeface="Calibri"/>
              </a:rPr>
              <a:t>(e)</a:t>
            </a:r>
          </a:p>
        </p:txBody>
      </p:sp>
      <p:sp>
        <p:nvSpPr>
          <p:cNvPr id="16" name="TextBox 15"/>
          <p:cNvSpPr txBox="1"/>
          <p:nvPr/>
        </p:nvSpPr>
        <p:spPr>
          <a:xfrm>
            <a:off x="1143000" y="5788152"/>
            <a:ext cx="10241280" cy="548640"/>
          </a:xfrm>
          <a:prstGeom prst="rect">
            <a:avLst/>
          </a:prstGeom>
          <a:noFill/>
        </p:spPr>
        <p:txBody>
          <a:bodyPr wrap="square" anchor="t" lIns="0" rIns="0" tIns="0" bIns="0">
            <a:spAutoFit/>
          </a:bodyPr>
          <a:lstStyle/>
          <a:p>
            <a:pPr algn="l">
              <a:lnSpc>
                <a:spcPct val="100000"/>
              </a:lnSpc>
              <a:spcAft>
                <a:spcPts val="0"/>
              </a:spcAft>
            </a:pPr>
            <a:r>
              <a:rPr sz="1600" b="0" i="0">
                <a:solidFill>
                  <a:srgbClr val="1E293B"/>
                </a:solidFill>
                <a:latin typeface="Calibri"/>
              </a:rPr>
              <a:t>How does the hybrid model compare to a matched classical baseline?</a:t>
            </a:r>
          </a:p>
        </p:txBody>
      </p:sp>
      <p:sp>
        <p:nvSpPr>
          <p:cNvPr id="17" name="TextBox 16"/>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Research Questions</a:t>
            </a:r>
          </a:p>
        </p:txBody>
      </p:sp>
      <p:sp>
        <p:nvSpPr>
          <p:cNvPr id="18" name="TextBox 17"/>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METHOD</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Binary MNIST (0 vs. 1), reduced to 4 features: deliberately easy</a:t>
            </a:r>
          </a:p>
        </p:txBody>
      </p:sp>
      <p:sp>
        <p:nvSpPr>
          <p:cNvPr id="6" name="TextBox 5"/>
          <p:cNvSpPr txBox="1"/>
          <p:nvPr/>
        </p:nvSpPr>
        <p:spPr>
          <a:xfrm>
            <a:off x="548640" y="2148840"/>
            <a:ext cx="6583680" cy="3840480"/>
          </a:xfrm>
          <a:prstGeom prst="rect">
            <a:avLst/>
          </a:prstGeom>
          <a:noFill/>
        </p:spPr>
        <p:txBody>
          <a:bodyPr wrap="square" lIns="0" rIns="0" tIns="0" bIns="0">
            <a:spAutoFit/>
          </a:bodyPr>
          <a:lstStyle/>
          <a:p>
            <a:pPr>
              <a:lnSpc>
                <a:spcPct val="108000"/>
              </a:lnSpc>
              <a:spcAft>
                <a:spcPts val="1300"/>
              </a:spcAft>
            </a:pPr>
            <a:r>
              <a:rPr sz="1600" b="0">
                <a:solidFill>
                  <a:srgbClr val="475569"/>
                </a:solidFill>
                <a:latin typeface="Calibri"/>
              </a:rPr>
              <a:t>•  14,780 samples (digits 0/1), 80/20 stratified split, class balance preserved (~53.3% class 1).</a:t>
            </a:r>
          </a:p>
          <a:p>
            <a:pPr>
              <a:lnSpc>
                <a:spcPct val="108000"/>
              </a:lnSpc>
              <a:spcAft>
                <a:spcPts val="1300"/>
              </a:spcAft>
            </a:pPr>
            <a:r>
              <a:rPr sz="1600" b="0">
                <a:solidFill>
                  <a:srgbClr val="475569"/>
                </a:solidFill>
                <a:latin typeface="Calibri"/>
              </a:rPr>
              <a:t>•  MinMaxScaler → PCA to 4 components (54.8% of variance) → StandardScaler, all fit on the training split only.</a:t>
            </a:r>
          </a:p>
          <a:p>
            <a:pPr>
              <a:lnSpc>
                <a:spcPct val="108000"/>
              </a:lnSpc>
              <a:spcAft>
                <a:spcPts val="1300"/>
              </a:spcAft>
            </a:pPr>
            <a:r>
              <a:rPr sz="1600" b="1">
                <a:solidFill>
                  <a:srgbClr val="1E293B"/>
                </a:solidFill>
                <a:latin typeface="Calibri"/>
              </a:rPr>
              <a:t>•  One feature per qubit,</a:t>
            </a:r>
            <a:r>
              <a:rPr sz="1600" b="0">
                <a:solidFill>
                  <a:srgbClr val="475569"/>
                </a:solidFill>
                <a:latin typeface="Calibri"/>
              </a:rPr>
              <a:t>  matching the VQC's 4-qubit design.</a:t>
            </a:r>
          </a:p>
          <a:p>
            <a:pPr>
              <a:lnSpc>
                <a:spcPct val="108000"/>
              </a:lnSpc>
              <a:spcAft>
                <a:spcPts val="1300"/>
              </a:spcAft>
            </a:pPr>
            <a:r>
              <a:rPr sz="1600" b="0">
                <a:solidFill>
                  <a:srgbClr val="475569"/>
                </a:solidFill>
                <a:latin typeface="Calibri"/>
              </a:rPr>
              <a:t>•  A near-saturated classical ceiling gives a stable reference point: any later degradation is attributable to noise or attack, not to task difficulty.</a:t>
            </a:r>
          </a:p>
        </p:txBody>
      </p:sp>
      <p:sp>
        <p:nvSpPr>
          <p:cNvPr id="7" name="Rounded Rectangle 6"/>
          <p:cNvSpPr/>
          <p:nvPr/>
        </p:nvSpPr>
        <p:spPr>
          <a:xfrm>
            <a:off x="7452360" y="2148840"/>
            <a:ext cx="4160520" cy="96012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53.3%</a:t>
            </a:r>
          </a:p>
          <a:p>
            <a:pPr algn="l">
              <a:spcBef>
                <a:spcPts val="200"/>
              </a:spcBef>
            </a:pPr>
            <a:r>
              <a:rPr sz="1150">
                <a:solidFill>
                  <a:srgbClr val="475569"/>
                </a:solidFill>
                <a:latin typeface="Calibri"/>
              </a:rPr>
              <a:t>Majority-class floor</a:t>
            </a:r>
          </a:p>
        </p:txBody>
      </p:sp>
      <p:sp>
        <p:nvSpPr>
          <p:cNvPr id="8" name="Rounded Rectangle 7"/>
          <p:cNvSpPr/>
          <p:nvPr/>
        </p:nvSpPr>
        <p:spPr>
          <a:xfrm>
            <a:off x="7452360" y="3291840"/>
            <a:ext cx="4160520" cy="96012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99.66% / 99.90%</a:t>
            </a:r>
          </a:p>
          <a:p>
            <a:pPr algn="l">
              <a:spcBef>
                <a:spcPts val="200"/>
              </a:spcBef>
            </a:pPr>
            <a:r>
              <a:rPr sz="1150">
                <a:solidFill>
                  <a:srgbClr val="475569"/>
                </a:solidFill>
                <a:latin typeface="Calibri"/>
              </a:rPr>
              <a:t>Logistic regression / SVM ceiling on the same 4 features</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Method · Dataset</a:t>
            </a:r>
          </a:p>
        </p:txBody>
      </p:sp>
      <p:sp>
        <p:nvSpPr>
          <p:cNvPr id="10" name="TextBox 9"/>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METHOD</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Matched architectures: comparable parameter budgets, identical data</a:t>
            </a:r>
          </a:p>
        </p:txBody>
      </p:sp>
      <p:sp>
        <p:nvSpPr>
          <p:cNvPr id="6" name="Rounded Rectangle 5"/>
          <p:cNvSpPr/>
          <p:nvPr/>
        </p:nvSpPr>
        <p:spPr>
          <a:xfrm>
            <a:off x="548640" y="2148840"/>
            <a:ext cx="5349240" cy="3749039"/>
          </a:xfrm>
          <a:prstGeom prst="roundRect">
            <a:avLst/>
          </a:prstGeom>
          <a:solidFill>
            <a:srgbClr val="F6F8FA"/>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r>
              <a:rPr b="1" sz="1700">
                <a:solidFill>
                  <a:srgbClr val="0A5C56"/>
                </a:solidFill>
                <a:latin typeface="Calibri"/>
              </a:rPr>
              <a:t>Variational Quantum Classifier</a:t>
            </a:r>
          </a:p>
          <a:p>
            <a:pPr>
              <a:lnSpc>
                <a:spcPct val="110000"/>
              </a:lnSpc>
              <a:spcBef>
                <a:spcPts val="1000"/>
              </a:spcBef>
            </a:pPr>
            <a:r>
              <a:rPr sz="1350">
                <a:solidFill>
                  <a:srgbClr val="475569"/>
                </a:solidFill>
                <a:latin typeface="Calibri"/>
              </a:rPr>
              <a:t>•  ZZFeatureMap (reps=2) + RealAmplitudes ansatz (reps=4, linear entanglement)</a:t>
            </a:r>
          </a:p>
          <a:p>
            <a:pPr>
              <a:lnSpc>
                <a:spcPct val="110000"/>
              </a:lnSpc>
              <a:spcBef>
                <a:spcPts val="1000"/>
              </a:spcBef>
            </a:pPr>
            <a:r>
              <a:rPr sz="1350">
                <a:solidFill>
                  <a:srgbClr val="475569"/>
                </a:solidFill>
                <a:latin typeface="Calibri"/>
              </a:rPr>
              <a:t>•  Single-qubit Pauli-Z observable → Linear(1→1) head</a:t>
            </a:r>
          </a:p>
          <a:p>
            <a:pPr>
              <a:lnSpc>
                <a:spcPct val="110000"/>
              </a:lnSpc>
              <a:spcBef>
                <a:spcPts val="1000"/>
              </a:spcBef>
            </a:pPr>
            <a:r>
              <a:rPr sz="1350">
                <a:solidFill>
                  <a:srgbClr val="475569"/>
                </a:solidFill>
                <a:latin typeface="Calibri"/>
              </a:rPr>
              <a:t>•  22 trainable parameters (20 ansatz + 2 classical)</a:t>
            </a:r>
          </a:p>
          <a:p>
            <a:pPr>
              <a:lnSpc>
                <a:spcPct val="110000"/>
              </a:lnSpc>
              <a:spcBef>
                <a:spcPts val="1000"/>
              </a:spcBef>
            </a:pPr>
            <a:r>
              <a:rPr sz="1350">
                <a:solidFill>
                  <a:srgbClr val="475569"/>
                </a:solidFill>
                <a:latin typeface="Calibri"/>
              </a:rPr>
              <a:t>•  Trained on an exact statevector simulator (noiseless)</a:t>
            </a:r>
          </a:p>
          <a:p>
            <a:pPr>
              <a:lnSpc>
                <a:spcPct val="110000"/>
              </a:lnSpc>
              <a:spcBef>
                <a:spcPts val="1000"/>
              </a:spcBef>
            </a:pPr>
            <a:r>
              <a:rPr sz="1350">
                <a:solidFill>
                  <a:srgbClr val="475569"/>
                </a:solidFill>
                <a:latin typeface="Calibri"/>
              </a:rPr>
              <a:t>•  Adam, lr=0.05, 8 seeds (42–49)</a:t>
            </a:r>
          </a:p>
        </p:txBody>
      </p:sp>
      <p:sp>
        <p:nvSpPr>
          <p:cNvPr id="7" name="Rounded Rectangle 6"/>
          <p:cNvSpPr/>
          <p:nvPr/>
        </p:nvSpPr>
        <p:spPr>
          <a:xfrm>
            <a:off x="6263640" y="2148840"/>
            <a:ext cx="5349240" cy="3749039"/>
          </a:xfrm>
          <a:prstGeom prst="roundRect">
            <a:avLst/>
          </a:prstGeom>
          <a:solidFill>
            <a:srgbClr val="F6F8FA"/>
          </a:solidFill>
          <a:ln w="1587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r>
              <a:rPr b="1" sz="1700">
                <a:solidFill>
                  <a:srgbClr val="1E293B"/>
                </a:solidFill>
                <a:latin typeface="Calibri"/>
              </a:rPr>
              <a:t>Classical Baseline</a:t>
            </a:r>
          </a:p>
          <a:p>
            <a:pPr>
              <a:lnSpc>
                <a:spcPct val="110000"/>
              </a:lnSpc>
              <a:spcBef>
                <a:spcPts val="1000"/>
              </a:spcBef>
            </a:pPr>
            <a:r>
              <a:rPr sz="1350">
                <a:solidFill>
                  <a:srgbClr val="475569"/>
                </a:solidFill>
                <a:latin typeface="Calibri"/>
              </a:rPr>
              <a:t>•  Linear(4→8) → ReLU → Linear(8→1)</a:t>
            </a:r>
          </a:p>
          <a:p>
            <a:pPr>
              <a:lnSpc>
                <a:spcPct val="110000"/>
              </a:lnSpc>
              <a:spcBef>
                <a:spcPts val="1000"/>
              </a:spcBef>
            </a:pPr>
            <a:r>
              <a:rPr sz="1350">
                <a:solidFill>
                  <a:srgbClr val="475569"/>
                </a:solidFill>
                <a:latin typeface="Calibri"/>
              </a:rPr>
              <a:t>•  BCEWithLogitsLoss, sigmoid output</a:t>
            </a:r>
          </a:p>
          <a:p>
            <a:pPr>
              <a:lnSpc>
                <a:spcPct val="110000"/>
              </a:lnSpc>
              <a:spcBef>
                <a:spcPts val="1000"/>
              </a:spcBef>
            </a:pPr>
            <a:r>
              <a:rPr sz="1350">
                <a:solidFill>
                  <a:srgbClr val="475569"/>
                </a:solidFill>
                <a:latin typeface="Calibri"/>
              </a:rPr>
              <a:t>•  49 trainable parameters</a:t>
            </a:r>
          </a:p>
          <a:p>
            <a:pPr>
              <a:lnSpc>
                <a:spcPct val="110000"/>
              </a:lnSpc>
              <a:spcBef>
                <a:spcPts val="1000"/>
              </a:spcBef>
            </a:pPr>
            <a:r>
              <a:rPr sz="1350">
                <a:solidFill>
                  <a:srgbClr val="475569"/>
                </a:solidFill>
                <a:latin typeface="Calibri"/>
              </a:rPr>
              <a:t>•  Same PCA features, same split, same per-split scaling</a:t>
            </a:r>
          </a:p>
          <a:p>
            <a:pPr>
              <a:lnSpc>
                <a:spcPct val="110000"/>
              </a:lnSpc>
              <a:spcBef>
                <a:spcPts val="1000"/>
              </a:spcBef>
            </a:pPr>
            <a:r>
              <a:rPr sz="1350">
                <a:solidFill>
                  <a:srgbClr val="475569"/>
                </a:solidFill>
                <a:latin typeface="Calibri"/>
              </a:rPr>
              <a:t>•  Adam, lr=0.01, 30 epochs, 8 seeds (42–49)</a:t>
            </a:r>
          </a:p>
        </p:txBody>
      </p:sp>
      <p:sp>
        <p:nvSpPr>
          <p:cNvPr id="8" name="TextBox 7"/>
          <p:cNvSpPr txBox="1"/>
          <p:nvPr/>
        </p:nvSpPr>
        <p:spPr>
          <a:xfrm>
            <a:off x="548640" y="6035040"/>
            <a:ext cx="10972800" cy="457200"/>
          </a:xfrm>
          <a:prstGeom prst="rect">
            <a:avLst/>
          </a:prstGeom>
          <a:noFill/>
        </p:spPr>
        <p:txBody>
          <a:bodyPr wrap="square" anchor="t" lIns="0" rIns="0" tIns="0" bIns="0">
            <a:spAutoFit/>
          </a:bodyPr>
          <a:lstStyle/>
          <a:p>
            <a:pPr algn="l">
              <a:lnSpc>
                <a:spcPct val="100000"/>
              </a:lnSpc>
              <a:spcAft>
                <a:spcPts val="0"/>
              </a:spcAft>
            </a:pPr>
            <a:r>
              <a:rPr sz="1350" b="0" i="1">
                <a:solidFill>
                  <a:srgbClr val="475569"/>
                </a:solidFill>
                <a:latin typeface="Calibri"/>
              </a:rPr>
              <a:t>Parameter counts are the same order of magnitude, so a later accuracy or robustness gap cannot be explained away as a capacity mismatch.</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Method · Architecture</a:t>
            </a:r>
          </a:p>
        </p:txBody>
      </p:sp>
      <p:sp>
        <p:nvSpPr>
          <p:cNvPr id="10" name="TextBox 9"/>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METHOD</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Three channels, four severity levels, one shared protocol</a:t>
            </a:r>
          </a:p>
        </p:txBody>
      </p:sp>
      <p:graphicFrame>
        <p:nvGraphicFramePr>
          <p:cNvPr id="6" name="Table 5"/>
          <p:cNvGraphicFramePr>
            <a:graphicFrameLocks noGrp="1"/>
          </p:cNvGraphicFramePr>
          <p:nvPr/>
        </p:nvGraphicFramePr>
        <p:xfrm>
          <a:off x="548640" y="2194560"/>
          <a:ext cx="8229600" cy="2286000"/>
        </p:xfrm>
        <a:graphic>
          <a:graphicData uri="http://schemas.openxmlformats.org/drawingml/2006/table">
            <a:tbl>
              <a:tblPr firstRow="1" bandRow="1">
                <a:tableStyleId>{5C22544A-7EE6-4342-B048-85BDC9FD1C3A}</a:tableStyleId>
              </a:tblPr>
              <a:tblGrid>
                <a:gridCol w="2377440"/>
                <a:gridCol w="2194560"/>
                <a:gridCol w="1828800"/>
                <a:gridCol w="1828800"/>
              </a:tblGrid>
              <a:tr h="457200">
                <a:tc>
                  <a:txBody>
                    <a:bodyPr/>
                    <a:lstStyle/>
                    <a:p>
                      <a:pPr algn="l"/>
                      <a:r>
                        <a:rPr sz="1300" b="1">
                          <a:solidFill>
                            <a:srgbClr val="FFFFFF"/>
                          </a:solidFill>
                          <a:latin typeface="Calibri"/>
                        </a:rPr>
                        <a:t>Level</a:t>
                      </a:r>
                    </a:p>
                  </a:txBody>
                  <a:tcPr anchor="ctr">
                    <a:solidFill>
                      <a:srgbClr val="0A5C56"/>
                    </a:solidFill>
                  </a:tcPr>
                </a:tc>
                <a:tc>
                  <a:txBody>
                    <a:bodyPr/>
                    <a:lstStyle/>
                    <a:p>
                      <a:pPr algn="ctr"/>
                      <a:r>
                        <a:rPr sz="1300" b="1">
                          <a:solidFill>
                            <a:srgbClr val="FFFFFF"/>
                          </a:solidFill>
                          <a:latin typeface="Calibri"/>
                        </a:rPr>
                        <a:t>Depolarizing (p₁/p₂)</a:t>
                      </a:r>
                    </a:p>
                  </a:txBody>
                  <a:tcPr anchor="ctr">
                    <a:solidFill>
                      <a:srgbClr val="0A5C56"/>
                    </a:solidFill>
                  </a:tcPr>
                </a:tc>
                <a:tc>
                  <a:txBody>
                    <a:bodyPr/>
                    <a:lstStyle/>
                    <a:p>
                      <a:pPr algn="ctr"/>
                      <a:r>
                        <a:rPr sz="1300" b="1">
                          <a:solidFill>
                            <a:srgbClr val="FFFFFF"/>
                          </a:solidFill>
                          <a:latin typeface="Calibri"/>
                        </a:rPr>
                        <a:t>Phase damping (γ)</a:t>
                      </a:r>
                    </a:p>
                  </a:txBody>
                  <a:tcPr anchor="ctr">
                    <a:solidFill>
                      <a:srgbClr val="0A5C56"/>
                    </a:solidFill>
                  </a:tcPr>
                </a:tc>
                <a:tc>
                  <a:txBody>
                    <a:bodyPr/>
                    <a:lstStyle/>
                    <a:p>
                      <a:pPr algn="ctr"/>
                      <a:r>
                        <a:rPr sz="1300" b="1">
                          <a:solidFill>
                            <a:srgbClr val="FFFFFF"/>
                          </a:solidFill>
                          <a:latin typeface="Calibri"/>
                        </a:rPr>
                        <a:t>Readout (p)</a:t>
                      </a:r>
                    </a:p>
                  </a:txBody>
                  <a:tcPr anchor="ctr">
                    <a:solidFill>
                      <a:srgbClr val="0A5C56"/>
                    </a:solidFill>
                  </a:tcPr>
                </a:tc>
              </a:tr>
              <a:tr h="457200">
                <a:tc>
                  <a:txBody>
                    <a:bodyPr/>
                    <a:lstStyle/>
                    <a:p>
                      <a:pPr algn="l"/>
                      <a:r>
                        <a:rPr sz="1300" b="0">
                          <a:solidFill>
                            <a:srgbClr val="1E293B"/>
                          </a:solidFill>
                          <a:latin typeface="Calibri"/>
                        </a:rPr>
                        <a:t>L1 (optimistic)</a:t>
                      </a:r>
                    </a:p>
                  </a:txBody>
                  <a:tcPr anchor="ctr">
                    <a:solidFill>
                      <a:srgbClr val="FFFFFF"/>
                    </a:solidFill>
                  </a:tcPr>
                </a:tc>
                <a:tc>
                  <a:txBody>
                    <a:bodyPr/>
                    <a:lstStyle/>
                    <a:p>
                      <a:pPr algn="ctr"/>
                      <a:r>
                        <a:rPr sz="1300" b="0">
                          <a:solidFill>
                            <a:srgbClr val="1E293B"/>
                          </a:solidFill>
                          <a:latin typeface="Calibri"/>
                        </a:rPr>
                        <a:t>0.0005 / 0.005</a:t>
                      </a:r>
                    </a:p>
                  </a:txBody>
                  <a:tcPr anchor="ctr">
                    <a:solidFill>
                      <a:srgbClr val="FFFFFF"/>
                    </a:solidFill>
                  </a:tcPr>
                </a:tc>
                <a:tc>
                  <a:txBody>
                    <a:bodyPr/>
                    <a:lstStyle/>
                    <a:p>
                      <a:pPr algn="ctr"/>
                      <a:r>
                        <a:rPr sz="1300" b="0">
                          <a:solidFill>
                            <a:srgbClr val="1E293B"/>
                          </a:solidFill>
                          <a:latin typeface="Calibri"/>
                        </a:rPr>
                        <a:t>0.005</a:t>
                      </a:r>
                    </a:p>
                  </a:txBody>
                  <a:tcPr anchor="ctr">
                    <a:solidFill>
                      <a:srgbClr val="FFFFFF"/>
                    </a:solidFill>
                  </a:tcPr>
                </a:tc>
                <a:tc>
                  <a:txBody>
                    <a:bodyPr/>
                    <a:lstStyle/>
                    <a:p>
                      <a:pPr algn="ctr"/>
                      <a:r>
                        <a:rPr sz="1300" b="0">
                          <a:solidFill>
                            <a:srgbClr val="1E293B"/>
                          </a:solidFill>
                          <a:latin typeface="Calibri"/>
                        </a:rPr>
                        <a:t>0.01</a:t>
                      </a:r>
                    </a:p>
                  </a:txBody>
                  <a:tcPr anchor="ctr">
                    <a:solidFill>
                      <a:srgbClr val="FFFFFF"/>
                    </a:solidFill>
                  </a:tcPr>
                </a:tc>
              </a:tr>
              <a:tr h="457200">
                <a:tc>
                  <a:txBody>
                    <a:bodyPr/>
                    <a:lstStyle/>
                    <a:p>
                      <a:pPr algn="l"/>
                      <a:r>
                        <a:rPr sz="1300" b="0">
                          <a:solidFill>
                            <a:srgbClr val="1E293B"/>
                          </a:solidFill>
                          <a:latin typeface="Calibri"/>
                        </a:rPr>
                        <a:t>L2 (device-realistic)</a:t>
                      </a:r>
                    </a:p>
                  </a:txBody>
                  <a:tcPr anchor="ctr">
                    <a:solidFill>
                      <a:srgbClr val="F6F8FA"/>
                    </a:solidFill>
                  </a:tcPr>
                </a:tc>
                <a:tc>
                  <a:txBody>
                    <a:bodyPr/>
                    <a:lstStyle/>
                    <a:p>
                      <a:pPr algn="ctr"/>
                      <a:r>
                        <a:rPr sz="1300" b="0">
                          <a:solidFill>
                            <a:srgbClr val="1E293B"/>
                          </a:solidFill>
                          <a:latin typeface="Calibri"/>
                        </a:rPr>
                        <a:t>0.001 / 0.01</a:t>
                      </a:r>
                    </a:p>
                  </a:txBody>
                  <a:tcPr anchor="ctr">
                    <a:solidFill>
                      <a:srgbClr val="F6F8FA"/>
                    </a:solidFill>
                  </a:tcPr>
                </a:tc>
                <a:tc>
                  <a:txBody>
                    <a:bodyPr/>
                    <a:lstStyle/>
                    <a:p>
                      <a:pPr algn="ctr"/>
                      <a:r>
                        <a:rPr sz="1300" b="0">
                          <a:solidFill>
                            <a:srgbClr val="1E293B"/>
                          </a:solidFill>
                          <a:latin typeface="Calibri"/>
                        </a:rPr>
                        <a:t>0.01</a:t>
                      </a:r>
                    </a:p>
                  </a:txBody>
                  <a:tcPr anchor="ctr">
                    <a:solidFill>
                      <a:srgbClr val="F6F8FA"/>
                    </a:solidFill>
                  </a:tcPr>
                </a:tc>
                <a:tc>
                  <a:txBody>
                    <a:bodyPr/>
                    <a:lstStyle/>
                    <a:p>
                      <a:pPr algn="ctr"/>
                      <a:r>
                        <a:rPr sz="1300" b="0">
                          <a:solidFill>
                            <a:srgbClr val="1E293B"/>
                          </a:solidFill>
                          <a:latin typeface="Calibri"/>
                        </a:rPr>
                        <a:t>0.02</a:t>
                      </a:r>
                    </a:p>
                  </a:txBody>
                  <a:tcPr anchor="ctr">
                    <a:solidFill>
                      <a:srgbClr val="F6F8FA"/>
                    </a:solidFill>
                  </a:tcPr>
                </a:tc>
              </a:tr>
              <a:tr h="457200">
                <a:tc>
                  <a:txBody>
                    <a:bodyPr/>
                    <a:lstStyle/>
                    <a:p>
                      <a:pPr algn="l"/>
                      <a:r>
                        <a:rPr sz="1300" b="0">
                          <a:solidFill>
                            <a:srgbClr val="1E293B"/>
                          </a:solidFill>
                          <a:latin typeface="Calibri"/>
                        </a:rPr>
                        <a:t>L3 (pessimistic)</a:t>
                      </a:r>
                    </a:p>
                  </a:txBody>
                  <a:tcPr anchor="ctr">
                    <a:solidFill>
                      <a:srgbClr val="FFFFFF"/>
                    </a:solidFill>
                  </a:tcPr>
                </a:tc>
                <a:tc>
                  <a:txBody>
                    <a:bodyPr/>
                    <a:lstStyle/>
                    <a:p>
                      <a:pPr algn="ctr"/>
                      <a:r>
                        <a:rPr sz="1300" b="0">
                          <a:solidFill>
                            <a:srgbClr val="1E293B"/>
                          </a:solidFill>
                          <a:latin typeface="Calibri"/>
                        </a:rPr>
                        <a:t>0.005 / 0.03</a:t>
                      </a:r>
                    </a:p>
                  </a:txBody>
                  <a:tcPr anchor="ctr">
                    <a:solidFill>
                      <a:srgbClr val="FFFFFF"/>
                    </a:solidFill>
                  </a:tcPr>
                </a:tc>
                <a:tc>
                  <a:txBody>
                    <a:bodyPr/>
                    <a:lstStyle/>
                    <a:p>
                      <a:pPr algn="ctr"/>
                      <a:r>
                        <a:rPr sz="1300" b="0">
                          <a:solidFill>
                            <a:srgbClr val="1E293B"/>
                          </a:solidFill>
                          <a:latin typeface="Calibri"/>
                        </a:rPr>
                        <a:t>0.03</a:t>
                      </a:r>
                    </a:p>
                  </a:txBody>
                  <a:tcPr anchor="ctr">
                    <a:solidFill>
                      <a:srgbClr val="FFFFFF"/>
                    </a:solidFill>
                  </a:tcPr>
                </a:tc>
                <a:tc>
                  <a:txBody>
                    <a:bodyPr/>
                    <a:lstStyle/>
                    <a:p>
                      <a:pPr algn="ctr"/>
                      <a:r>
                        <a:rPr sz="1300" b="0">
                          <a:solidFill>
                            <a:srgbClr val="1E293B"/>
                          </a:solidFill>
                          <a:latin typeface="Calibri"/>
                        </a:rPr>
                        <a:t>0.05</a:t>
                      </a:r>
                    </a:p>
                  </a:txBody>
                  <a:tcPr anchor="ctr">
                    <a:solidFill>
                      <a:srgbClr val="FFFFFF"/>
                    </a:solidFill>
                  </a:tcPr>
                </a:tc>
              </a:tr>
              <a:tr h="457200">
                <a:tc>
                  <a:txBody>
                    <a:bodyPr/>
                    <a:lstStyle/>
                    <a:p>
                      <a:pPr algn="l"/>
                      <a:r>
                        <a:rPr sz="1300" b="0">
                          <a:solidFill>
                            <a:srgbClr val="1E293B"/>
                          </a:solidFill>
                          <a:latin typeface="Calibri"/>
                        </a:rPr>
                        <a:t>L4 (stress-test)</a:t>
                      </a:r>
                    </a:p>
                  </a:txBody>
                  <a:tcPr anchor="ctr">
                    <a:solidFill>
                      <a:srgbClr val="F6F8FA"/>
                    </a:solidFill>
                  </a:tcPr>
                </a:tc>
                <a:tc>
                  <a:txBody>
                    <a:bodyPr/>
                    <a:lstStyle/>
                    <a:p>
                      <a:pPr algn="ctr"/>
                      <a:r>
                        <a:rPr sz="1300" b="0">
                          <a:solidFill>
                            <a:srgbClr val="1E293B"/>
                          </a:solidFill>
                          <a:latin typeface="Calibri"/>
                        </a:rPr>
                        <a:t>0.01 / 0.05</a:t>
                      </a:r>
                    </a:p>
                  </a:txBody>
                  <a:tcPr anchor="ctr">
                    <a:solidFill>
                      <a:srgbClr val="F6F8FA"/>
                    </a:solidFill>
                  </a:tcPr>
                </a:tc>
                <a:tc>
                  <a:txBody>
                    <a:bodyPr/>
                    <a:lstStyle/>
                    <a:p>
                      <a:pPr algn="ctr"/>
                      <a:r>
                        <a:rPr sz="1300" b="0">
                          <a:solidFill>
                            <a:srgbClr val="1E293B"/>
                          </a:solidFill>
                          <a:latin typeface="Calibri"/>
                        </a:rPr>
                        <a:t>0.05</a:t>
                      </a:r>
                    </a:p>
                  </a:txBody>
                  <a:tcPr anchor="ctr">
                    <a:solidFill>
                      <a:srgbClr val="F6F8FA"/>
                    </a:solidFill>
                  </a:tcPr>
                </a:tc>
                <a:tc>
                  <a:txBody>
                    <a:bodyPr/>
                    <a:lstStyle/>
                    <a:p>
                      <a:pPr algn="ctr"/>
                      <a:r>
                        <a:rPr sz="1300" b="0">
                          <a:solidFill>
                            <a:srgbClr val="1E293B"/>
                          </a:solidFill>
                          <a:latin typeface="Calibri"/>
                        </a:rPr>
                        <a:t>0.10</a:t>
                      </a:r>
                    </a:p>
                  </a:txBody>
                  <a:tcPr anchor="ctr">
                    <a:solidFill>
                      <a:srgbClr val="F6F8FA"/>
                    </a:solidFill>
                  </a:tcPr>
                </a:tc>
              </a:tr>
            </a:tbl>
          </a:graphicData>
        </a:graphic>
      </p:graphicFrame>
      <p:sp>
        <p:nvSpPr>
          <p:cNvPr id="7" name="TextBox 6"/>
          <p:cNvSpPr txBox="1"/>
          <p:nvPr/>
        </p:nvSpPr>
        <p:spPr>
          <a:xfrm>
            <a:off x="548640" y="4800600"/>
            <a:ext cx="10972800" cy="1737360"/>
          </a:xfrm>
          <a:prstGeom prst="rect">
            <a:avLst/>
          </a:prstGeom>
          <a:noFill/>
        </p:spPr>
        <p:txBody>
          <a:bodyPr wrap="square" lIns="0" rIns="0" tIns="0" bIns="0">
            <a:spAutoFit/>
          </a:bodyPr>
          <a:lstStyle/>
          <a:p>
            <a:pPr>
              <a:lnSpc>
                <a:spcPct val="108000"/>
              </a:lnSpc>
              <a:spcAft>
                <a:spcPts val="1000"/>
              </a:spcAft>
            </a:pPr>
            <a:r>
              <a:rPr sz="1450" b="0">
                <a:solidFill>
                  <a:srgbClr val="475569"/>
                </a:solidFill>
                <a:latin typeface="Calibri"/>
              </a:rPr>
              <a:t>•  Levels bracket optimistic-to-pessimistic conditions at comparable orders of magnitude across channels, so the RQ(a) comparison is not confounded by one channel being set harsher than the others.</a:t>
            </a:r>
          </a:p>
          <a:p>
            <a:pPr>
              <a:lnSpc>
                <a:spcPct val="108000"/>
              </a:lnSpc>
              <a:spcAft>
                <a:spcPts val="1000"/>
              </a:spcAft>
            </a:pPr>
            <a:r>
              <a:rPr sz="1450" b="1">
                <a:solidFill>
                  <a:srgbClr val="1E293B"/>
                </a:solidFill>
                <a:latin typeface="Calibri"/>
              </a:rPr>
              <a:t>•  Applied at inference only,</a:t>
            </a:r>
            <a:r>
              <a:rPr sz="1450" b="0">
                <a:solidFill>
                  <a:srgbClr val="475569"/>
                </a:solidFill>
                <a:latin typeface="Calibri"/>
              </a:rPr>
              <a:t>  on the fixed, noiselessly-trained checkpoints. Noise never touches training.</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Method · Noise</a:t>
            </a:r>
          </a:p>
        </p:txBody>
      </p:sp>
      <p:sp>
        <p:nvSpPr>
          <p:cNvPr id="9" name="TextBox 8"/>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METHOD</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FGSM as the primary attack; PGD added when FGSM proved insufficient</a:t>
            </a:r>
          </a:p>
        </p:txBody>
      </p:sp>
      <p:sp>
        <p:nvSpPr>
          <p:cNvPr id="6" name="TextBox 5"/>
          <p:cNvSpPr txBox="1"/>
          <p:nvPr/>
        </p:nvSpPr>
        <p:spPr>
          <a:xfrm>
            <a:off x="548640" y="2148840"/>
            <a:ext cx="6675120" cy="3931920"/>
          </a:xfrm>
          <a:prstGeom prst="rect">
            <a:avLst/>
          </a:prstGeom>
          <a:noFill/>
        </p:spPr>
        <p:txBody>
          <a:bodyPr wrap="square" lIns="0" rIns="0" tIns="0" bIns="0">
            <a:spAutoFit/>
          </a:bodyPr>
          <a:lstStyle/>
          <a:p>
            <a:pPr>
              <a:lnSpc>
                <a:spcPct val="108000"/>
              </a:lnSpc>
              <a:spcAft>
                <a:spcPts val="1200"/>
              </a:spcAft>
            </a:pPr>
            <a:r>
              <a:rPr sz="1550" b="1">
                <a:solidFill>
                  <a:srgbClr val="1E293B"/>
                </a:solidFill>
                <a:latin typeface="Calibri"/>
              </a:rPr>
              <a:t>•  FGSM</a:t>
            </a:r>
            <a:r>
              <a:rPr sz="1550" b="0">
                <a:solidFill>
                  <a:srgbClr val="475569"/>
                </a:solidFill>
                <a:latin typeface="Calibri"/>
              </a:rPr>
              <a:t>  (Fast Gradient Sign Method): one step in the sign of the loss gradient, clipped to an ε-radius L∞ ball. Swept ε ∈ {0, 0.02, 0.05, 0.1, 0.15, 0.2, 0.3}.</a:t>
            </a:r>
          </a:p>
          <a:p>
            <a:pPr>
              <a:lnSpc>
                <a:spcPct val="108000"/>
              </a:lnSpc>
              <a:spcAft>
                <a:spcPts val="1200"/>
              </a:spcAft>
            </a:pPr>
            <a:r>
              <a:rPr sz="1550" b="1">
                <a:solidFill>
                  <a:srgbClr val="1E293B"/>
                </a:solidFill>
                <a:latin typeface="Calibri"/>
              </a:rPr>
              <a:t>•  PGD</a:t>
            </a:r>
            <a:r>
              <a:rPr sz="1550" b="0">
                <a:solidFill>
                  <a:srgbClr val="475569"/>
                </a:solidFill>
                <a:latin typeface="Calibri"/>
              </a:rPr>
              <a:t>  (Projected Gradient Descent): 7 iterative steps, re-projected onto the same ε-ball each time: a stronger attack. Swept ε ∈ {0, 0.05, 0.1, 0.2, 0.3}.</a:t>
            </a:r>
          </a:p>
          <a:p>
            <a:pPr>
              <a:lnSpc>
                <a:spcPct val="108000"/>
              </a:lnSpc>
              <a:spcAft>
                <a:spcPts val="1200"/>
              </a:spcAft>
            </a:pPr>
            <a:r>
              <a:rPr sz="1550" b="1">
                <a:solidFill>
                  <a:srgbClr val="1E293B"/>
                </a:solidFill>
                <a:latin typeface="Calibri"/>
              </a:rPr>
              <a:t>•  Attack-transfer design:</a:t>
            </a:r>
            <a:r>
              <a:rPr sz="1550" b="0">
                <a:solidFill>
                  <a:srgbClr val="475569"/>
                </a:solidFill>
                <a:latin typeface="Calibri"/>
              </a:rPr>
              <a:t>  adversarial examples are generated once against the clean, noiseless model, then evaluated under each noise condition at inference, the same design used in the closest prior work.</a:t>
            </a:r>
          </a:p>
          <a:p>
            <a:pPr>
              <a:lnSpc>
                <a:spcPct val="108000"/>
              </a:lnSpc>
              <a:spcAft>
                <a:spcPts val="1200"/>
              </a:spcAft>
            </a:pPr>
            <a:r>
              <a:rPr sz="1550" b="0">
                <a:solidFill>
                  <a:srgbClr val="475569"/>
                </a:solidFill>
                <a:latin typeface="Calibri"/>
              </a:rPr>
              <a:t>•  Generated with the Adversarial Robustness Toolbox (ART); gradients flow through the quantum layer via the parameter-shift rule.</a:t>
            </a:r>
          </a:p>
        </p:txBody>
      </p:sp>
      <p:sp>
        <p:nvSpPr>
          <p:cNvPr id="7" name="Rounded Rectangle 6"/>
          <p:cNvSpPr/>
          <p:nvPr/>
        </p:nvSpPr>
        <p:spPr>
          <a:xfrm>
            <a:off x="8321040" y="2148840"/>
            <a:ext cx="3291840" cy="105156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500 / 50</a:t>
            </a:r>
          </a:p>
          <a:p>
            <a:pPr algn="l">
              <a:spcBef>
                <a:spcPts val="200"/>
              </a:spcBef>
            </a:pPr>
            <a:r>
              <a:rPr sz="1150">
                <a:solidFill>
                  <a:srgbClr val="475569"/>
                </a:solidFill>
                <a:latin typeface="Calibri"/>
              </a:rPr>
              <a:t>Stratified subsample size: FGSM sweep / PGD sweep (per seed)</a:t>
            </a:r>
          </a:p>
        </p:txBody>
      </p:sp>
      <p:sp>
        <p:nvSpPr>
          <p:cNvPr id="8" name="Rounded Rectangle 7"/>
          <p:cNvSpPr/>
          <p:nvPr/>
        </p:nvSpPr>
        <p:spPr>
          <a:xfrm>
            <a:off x="8321040" y="3383280"/>
            <a:ext cx="3291840" cy="105156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8</a:t>
            </a:r>
          </a:p>
          <a:p>
            <a:pPr algn="l">
              <a:spcBef>
                <a:spcPts val="200"/>
              </a:spcBef>
            </a:pPr>
            <a:r>
              <a:rPr sz="1150">
                <a:solidFill>
                  <a:srgbClr val="475569"/>
                </a:solidFill>
                <a:latin typeface="Calibri"/>
              </a:rPr>
              <a:t>Seeds per condition (42–49)</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Method · Attacks</a:t>
            </a:r>
          </a:p>
        </p:txBody>
      </p:sp>
      <p:sp>
        <p:nvSpPr>
          <p:cNvPr id="10" name="TextBox 9"/>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METHOD</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Two mitigation techniques, tested against robustness specifically</a:t>
            </a:r>
          </a:p>
        </p:txBody>
      </p:sp>
      <p:sp>
        <p:nvSpPr>
          <p:cNvPr id="6" name="TextBox 5"/>
          <p:cNvSpPr txBox="1"/>
          <p:nvPr/>
        </p:nvSpPr>
        <p:spPr>
          <a:xfrm>
            <a:off x="548640" y="2148840"/>
            <a:ext cx="10972800" cy="1920240"/>
          </a:xfrm>
          <a:prstGeom prst="rect">
            <a:avLst/>
          </a:prstGeom>
          <a:noFill/>
        </p:spPr>
        <p:txBody>
          <a:bodyPr wrap="square" lIns="0" rIns="0" tIns="0" bIns="0">
            <a:spAutoFit/>
          </a:bodyPr>
          <a:lstStyle/>
          <a:p>
            <a:pPr>
              <a:lnSpc>
                <a:spcPct val="108000"/>
              </a:lnSpc>
              <a:spcAft>
                <a:spcPts val="1200"/>
              </a:spcAft>
            </a:pPr>
            <a:r>
              <a:rPr sz="1600" b="1">
                <a:solidFill>
                  <a:srgbClr val="1E293B"/>
                </a:solidFill>
                <a:latin typeface="Calibri"/>
              </a:rPr>
              <a:t>•  Readout calibration:</a:t>
            </a:r>
            <a:r>
              <a:rPr sz="1600" b="0">
                <a:solidFill>
                  <a:srgbClr val="475569"/>
                </a:solidFill>
                <a:latin typeface="Calibri"/>
              </a:rPr>
              <a:t>  invert a 16×16 measurement confusion matrix (Moore-Penrose pseudo-inverse) to correct observed bitstring counts.</a:t>
            </a:r>
          </a:p>
          <a:p>
            <a:pPr>
              <a:lnSpc>
                <a:spcPct val="108000"/>
              </a:lnSpc>
              <a:spcAft>
                <a:spcPts val="1200"/>
              </a:spcAft>
            </a:pPr>
            <a:r>
              <a:rPr sz="1600" b="1">
                <a:solidFill>
                  <a:srgbClr val="1E293B"/>
                </a:solidFill>
                <a:latin typeface="Calibri"/>
              </a:rPr>
              <a:t>•  Zero-noise extrapolation (ZNE):</a:t>
            </a:r>
            <a:r>
              <a:rPr sz="1600" b="0">
                <a:solidFill>
                  <a:srgbClr val="475569"/>
                </a:solidFill>
                <a:latin typeface="Calibri"/>
              </a:rPr>
              <a:t>  fold circuits at scale factors {1, 3, 5}, then linearly (Richardson) extrapolate back to the zero-noise limit.</a:t>
            </a:r>
          </a:p>
        </p:txBody>
      </p:sp>
      <p:sp>
        <p:nvSpPr>
          <p:cNvPr id="7" name="TextBox 6"/>
          <p:cNvSpPr txBox="1"/>
          <p:nvPr/>
        </p:nvSpPr>
        <p:spPr>
          <a:xfrm>
            <a:off x="548640" y="3794760"/>
            <a:ext cx="10972800" cy="36576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STATISTICAL APPROACH</a:t>
            </a:r>
          </a:p>
        </p:txBody>
      </p:sp>
      <p:sp>
        <p:nvSpPr>
          <p:cNvPr id="8" name="TextBox 7"/>
          <p:cNvSpPr txBox="1"/>
          <p:nvPr/>
        </p:nvSpPr>
        <p:spPr>
          <a:xfrm>
            <a:off x="548640" y="4206240"/>
            <a:ext cx="10972800" cy="2103120"/>
          </a:xfrm>
          <a:prstGeom prst="rect">
            <a:avLst/>
          </a:prstGeom>
          <a:noFill/>
        </p:spPr>
        <p:txBody>
          <a:bodyPr wrap="square" lIns="0" rIns="0" tIns="0" bIns="0">
            <a:spAutoFit/>
          </a:bodyPr>
          <a:lstStyle/>
          <a:p>
            <a:pPr>
              <a:lnSpc>
                <a:spcPct val="108000"/>
              </a:lnSpc>
              <a:spcAft>
                <a:spcPts val="1000"/>
              </a:spcAft>
            </a:pPr>
            <a:r>
              <a:rPr sz="1500" b="1">
                <a:solidFill>
                  <a:srgbClr val="1E293B"/>
                </a:solidFill>
                <a:latin typeface="Calibri"/>
              </a:rPr>
              <a:t>•  Paired comparisons:</a:t>
            </a:r>
            <a:r>
              <a:rPr sz="1500" b="0">
                <a:solidFill>
                  <a:srgbClr val="475569"/>
                </a:solidFill>
                <a:latin typeface="Calibri"/>
              </a:rPr>
              <a:t>  Wilcoxon signed-rank test (primary) + paired t-test (secondary check), effect size as paired Cohen's d.</a:t>
            </a:r>
          </a:p>
          <a:p>
            <a:pPr>
              <a:lnSpc>
                <a:spcPct val="108000"/>
              </a:lnSpc>
              <a:spcAft>
                <a:spcPts val="1000"/>
              </a:spcAft>
            </a:pPr>
            <a:r>
              <a:rPr sz="1500" b="1">
                <a:solidFill>
                  <a:srgbClr val="1E293B"/>
                </a:solidFill>
                <a:latin typeface="Calibri"/>
              </a:rPr>
              <a:t>•  Multiple comparisons:</a:t>
            </a:r>
            <a:r>
              <a:rPr sz="1500" b="0">
                <a:solidFill>
                  <a:srgbClr val="475569"/>
                </a:solidFill>
                <a:latin typeface="Calibri"/>
              </a:rPr>
              <a:t>  Benjamini-Hochberg FDR correction within each family of related tests.</a:t>
            </a:r>
          </a:p>
          <a:p>
            <a:pPr>
              <a:lnSpc>
                <a:spcPct val="108000"/>
              </a:lnSpc>
              <a:spcAft>
                <a:spcPts val="1000"/>
              </a:spcAft>
            </a:pPr>
            <a:r>
              <a:rPr sz="1500" b="1">
                <a:solidFill>
                  <a:srgbClr val="1E293B"/>
                </a:solidFill>
                <a:latin typeface="Calibri"/>
              </a:rPr>
              <a:t>•  Trend and correlation questions:</a:t>
            </a:r>
            <a:r>
              <a:rPr sz="1500" b="0">
                <a:solidFill>
                  <a:srgbClr val="475569"/>
                </a:solidFill>
                <a:latin typeface="Calibri"/>
              </a:rPr>
              <a:t>  per-seed Spearman correlation, avoiding pseudo-replication across the noise grid.</a:t>
            </a:r>
          </a:p>
          <a:p>
            <a:pPr>
              <a:lnSpc>
                <a:spcPct val="108000"/>
              </a:lnSpc>
              <a:spcAft>
                <a:spcPts val="1000"/>
              </a:spcAft>
            </a:pPr>
            <a:r>
              <a:rPr sz="1500" b="0">
                <a:solidFill>
                  <a:srgbClr val="475569"/>
                </a:solidFill>
                <a:latin typeface="Calibri"/>
              </a:rPr>
              <a:t>•  All statistics run across the full 8-seed design (42–49), validated by a 14-test unit suite.</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Method · Mitigation &amp; Statistics</a:t>
            </a:r>
          </a:p>
        </p:txBody>
      </p:sp>
      <p:sp>
        <p:nvSpPr>
          <p:cNvPr id="10" name="TextBox 9"/>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PHASE 0 · DIAGNOSING A TRAINING FAILURE</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The VQC first trained to just 58% accuracy, barely above chance</a:t>
            </a:r>
          </a:p>
        </p:txBody>
      </p:sp>
      <p:sp>
        <p:nvSpPr>
          <p:cNvPr id="6" name="TextBox 5"/>
          <p:cNvSpPr txBox="1"/>
          <p:nvPr/>
        </p:nvSpPr>
        <p:spPr>
          <a:xfrm>
            <a:off x="548640" y="2194560"/>
            <a:ext cx="6675120" cy="3291840"/>
          </a:xfrm>
          <a:prstGeom prst="rect">
            <a:avLst/>
          </a:prstGeom>
          <a:noFill/>
        </p:spPr>
        <p:txBody>
          <a:bodyPr wrap="square" lIns="0" rIns="0" tIns="0" bIns="0">
            <a:spAutoFit/>
          </a:bodyPr>
          <a:lstStyle/>
          <a:p>
            <a:pPr>
              <a:lnSpc>
                <a:spcPct val="108000"/>
              </a:lnSpc>
              <a:spcAft>
                <a:spcPts val="1600"/>
              </a:spcAft>
            </a:pPr>
            <a:r>
              <a:rPr sz="1700" b="0">
                <a:solidFill>
                  <a:srgbClr val="475569"/>
                </a:solidFill>
                <a:latin typeface="Calibri"/>
              </a:rPr>
              <a:t>•  Majority-class floor: 53.3%. The same 4 features reach 99.66% under a plain logistic regression.</a:t>
            </a:r>
          </a:p>
          <a:p>
            <a:pPr>
              <a:lnSpc>
                <a:spcPct val="108000"/>
              </a:lnSpc>
              <a:spcAft>
                <a:spcPts val="1600"/>
              </a:spcAft>
            </a:pPr>
            <a:r>
              <a:rPr sz="1700" b="0">
                <a:solidFill>
                  <a:srgbClr val="475569"/>
                </a:solidFill>
                <a:latin typeface="Calibri"/>
              </a:rPr>
              <a:t>•  Training loss stuck near ln(2) ≈ 0.693, exactly what random guessing produces.</a:t>
            </a:r>
          </a:p>
          <a:p>
            <a:pPr>
              <a:lnSpc>
                <a:spcPct val="108000"/>
              </a:lnSpc>
              <a:spcAft>
                <a:spcPts val="1600"/>
              </a:spcAft>
            </a:pPr>
            <a:r>
              <a:rPr sz="1700" b="0">
                <a:solidFill>
                  <a:srgbClr val="475569"/>
                </a:solidFill>
                <a:latin typeface="Calibri"/>
              </a:rPr>
              <a:t>•  Every research question in this thesis assumes a VQC that has actually learned something. This could not be tuned away quietly. It had to be understood first.</a:t>
            </a:r>
          </a:p>
        </p:txBody>
      </p:sp>
      <p:sp>
        <p:nvSpPr>
          <p:cNvPr id="7" name="Rounded Rectangle 6"/>
          <p:cNvSpPr/>
          <p:nvPr/>
        </p:nvSpPr>
        <p:spPr>
          <a:xfrm>
            <a:off x="8321040" y="2194560"/>
            <a:ext cx="3291840" cy="100584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~58%</a:t>
            </a:r>
          </a:p>
          <a:p>
            <a:pPr algn="l">
              <a:spcBef>
                <a:spcPts val="200"/>
              </a:spcBef>
            </a:pPr>
            <a:r>
              <a:rPr sz="1150">
                <a:solidFill>
                  <a:srgbClr val="475569"/>
                </a:solidFill>
                <a:latin typeface="Calibri"/>
              </a:rPr>
              <a:t>Initial VQC test accuracy</a:t>
            </a:r>
          </a:p>
        </p:txBody>
      </p:sp>
      <p:sp>
        <p:nvSpPr>
          <p:cNvPr id="8" name="Rounded Rectangle 7"/>
          <p:cNvSpPr/>
          <p:nvPr/>
        </p:nvSpPr>
        <p:spPr>
          <a:xfrm>
            <a:off x="8321040" y="3383280"/>
            <a:ext cx="3291840" cy="100584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53.3%</a:t>
            </a:r>
          </a:p>
          <a:p>
            <a:pPr algn="l">
              <a:spcBef>
                <a:spcPts val="200"/>
              </a:spcBef>
            </a:pPr>
            <a:r>
              <a:rPr sz="1150">
                <a:solidFill>
                  <a:srgbClr val="475569"/>
                </a:solidFill>
                <a:latin typeface="Calibri"/>
              </a:rPr>
              <a:t>Majority-class floor</a:t>
            </a:r>
          </a:p>
        </p:txBody>
      </p:sp>
      <p:sp>
        <p:nvSpPr>
          <p:cNvPr id="9" name="Rounded Rectangle 8"/>
          <p:cNvSpPr/>
          <p:nvPr/>
        </p:nvSpPr>
        <p:spPr>
          <a:xfrm>
            <a:off x="8321040" y="4572000"/>
            <a:ext cx="3291840" cy="100584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99.66%</a:t>
            </a:r>
          </a:p>
          <a:p>
            <a:pPr algn="l">
              <a:spcBef>
                <a:spcPts val="200"/>
              </a:spcBef>
            </a:pPr>
            <a:r>
              <a:rPr sz="1150">
                <a:solidFill>
                  <a:srgbClr val="475569"/>
                </a:solidFill>
                <a:latin typeface="Calibri"/>
              </a:rPr>
              <a:t>Logistic regression, same features</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Phase 0</a:t>
            </a:r>
          </a:p>
        </p:txBody>
      </p:sp>
      <p:sp>
        <p:nvSpPr>
          <p:cNvPr id="11" name="TextBox 10"/>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PHASE 0 · DIAGNOSING A TRAINING FAILURE</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Four explanations ruled out; a genuine circuit expressivity ceiling remained</a:t>
            </a:r>
          </a:p>
        </p:txBody>
      </p:sp>
      <p:sp>
        <p:nvSpPr>
          <p:cNvPr id="6" name="TextBox 5"/>
          <p:cNvSpPr txBox="1"/>
          <p:nvPr/>
        </p:nvSpPr>
        <p:spPr>
          <a:xfrm>
            <a:off x="548640" y="2148840"/>
            <a:ext cx="10972800" cy="2377440"/>
          </a:xfrm>
          <a:prstGeom prst="rect">
            <a:avLst/>
          </a:prstGeom>
          <a:noFill/>
        </p:spPr>
        <p:txBody>
          <a:bodyPr wrap="square" lIns="0" rIns="0" tIns="0" bIns="0">
            <a:spAutoFit/>
          </a:bodyPr>
          <a:lstStyle/>
          <a:p>
            <a:pPr>
              <a:lnSpc>
                <a:spcPct val="108000"/>
              </a:lnSpc>
              <a:spcAft>
                <a:spcPts val="1200"/>
              </a:spcAft>
            </a:pPr>
            <a:r>
              <a:rPr sz="1550" b="1">
                <a:solidFill>
                  <a:srgbClr val="1E293B"/>
                </a:solidFill>
                <a:latin typeface="Calibri"/>
              </a:rPr>
              <a:t>•  Ruled out, in order:</a:t>
            </a:r>
            <a:r>
              <a:rPr sz="1550" b="0">
                <a:solidFill>
                  <a:srgbClr val="475569"/>
                </a:solidFill>
                <a:latin typeface="Calibri"/>
              </a:rPr>
              <a:t>  broken gradient flow, frozen optimizer parameters, mini-batch noise, and observable width, each tested with a falsifiable check, cheapest first.</a:t>
            </a:r>
          </a:p>
          <a:p>
            <a:pPr>
              <a:lnSpc>
                <a:spcPct val="108000"/>
              </a:lnSpc>
              <a:spcAft>
                <a:spcPts val="1200"/>
              </a:spcAft>
            </a:pPr>
            <a:r>
              <a:rPr sz="1550" b="1">
                <a:solidFill>
                  <a:srgbClr val="1E293B"/>
                </a:solidFill>
                <a:latin typeface="Calibri"/>
              </a:rPr>
              <a:t>•  Key diagnostic:</a:t>
            </a:r>
            <a:r>
              <a:rPr sz="1550" b="0">
                <a:solidFill>
                  <a:srgbClr val="475569"/>
                </a:solidFill>
                <a:latin typeface="Calibri"/>
              </a:rPr>
              <a:t>  the architecture overfit a tiny 40-point subset cleanly (97.5% accuracy) but could not learn a diverse ~9,459-point training set: a capacity limit, not a broken model.</a:t>
            </a:r>
          </a:p>
        </p:txBody>
      </p:sp>
      <p:sp>
        <p:nvSpPr>
          <p:cNvPr id="7" name="TextBox 6"/>
          <p:cNvSpPr txBox="1"/>
          <p:nvPr/>
        </p:nvSpPr>
        <p:spPr>
          <a:xfrm>
            <a:off x="548640" y="4343400"/>
            <a:ext cx="10972800" cy="36576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THE FIX</a:t>
            </a:r>
          </a:p>
        </p:txBody>
      </p:sp>
      <p:sp>
        <p:nvSpPr>
          <p:cNvPr id="8" name="TextBox 7"/>
          <p:cNvSpPr txBox="1"/>
          <p:nvPr/>
        </p:nvSpPr>
        <p:spPr>
          <a:xfrm>
            <a:off x="548640" y="4754880"/>
            <a:ext cx="10972800" cy="1463040"/>
          </a:xfrm>
          <a:prstGeom prst="rect">
            <a:avLst/>
          </a:prstGeom>
          <a:noFill/>
        </p:spPr>
        <p:txBody>
          <a:bodyPr wrap="square" lIns="0" rIns="0" tIns="0" bIns="0">
            <a:spAutoFit/>
          </a:bodyPr>
          <a:lstStyle/>
          <a:p>
            <a:pPr>
              <a:lnSpc>
                <a:spcPct val="108000"/>
              </a:lnSpc>
              <a:spcAft>
                <a:spcPts val="0"/>
              </a:spcAft>
            </a:pPr>
            <a:r>
              <a:rPr sz="1550" b="1">
                <a:solidFill>
                  <a:srgbClr val="1E293B"/>
                </a:solidFill>
                <a:latin typeface="Calibri"/>
              </a:rPr>
              <a:t>•  Doubled ansatz depth (reps 2→4, 12→20 weights):</a:t>
            </a:r>
            <a:r>
              <a:rPr sz="1550" b="0">
                <a:solidFill>
                  <a:srgbClr val="475569"/>
                </a:solidFill>
                <a:latin typeface="Calibri"/>
              </a:rPr>
              <a:t>  raised the ceiling from ~58% to ~62–64%: a real, transferring improvement, but with diminishing returns. It moved the ceiling; it did not remove it.</a:t>
            </a:r>
          </a:p>
        </p:txBody>
      </p:sp>
      <p:sp>
        <p:nvSpPr>
          <p:cNvPr id="9" name="TextBox 8"/>
          <p:cNvSpPr txBox="1"/>
          <p:nvPr/>
        </p:nvSpPr>
        <p:spPr>
          <a:xfrm>
            <a:off x="548640" y="6080760"/>
            <a:ext cx="10972800" cy="457200"/>
          </a:xfrm>
          <a:prstGeom prst="rect">
            <a:avLst/>
          </a:prstGeom>
          <a:noFill/>
        </p:spPr>
        <p:txBody>
          <a:bodyPr wrap="square" anchor="t" lIns="0" rIns="0" tIns="0" bIns="0">
            <a:spAutoFit/>
          </a:bodyPr>
          <a:lstStyle/>
          <a:p>
            <a:pPr algn="l">
              <a:lnSpc>
                <a:spcPct val="100000"/>
              </a:lnSpc>
              <a:spcAft>
                <a:spcPts val="0"/>
              </a:spcAft>
            </a:pPr>
            <a:r>
              <a:rPr sz="1350" b="0" i="1">
                <a:solidFill>
                  <a:srgbClr val="475569"/>
                </a:solidFill>
                <a:latin typeface="Calibri"/>
              </a:rPr>
              <a:t>Treated as a real, citable finding: a bounded trainability limit in a shallow, non-data-reuploading circuit, not an implementation bug.</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Phase 0</a:t>
            </a:r>
          </a:p>
        </p:txBody>
      </p:sp>
      <p:sp>
        <p:nvSpPr>
          <p:cNvPr id="11" name="TextBox 10"/>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RESULTS · RQ(E): HYBRID VS. CLASSICAL</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The VQC reaches 62.46% accuracy against a 99.83% classical ceiling</a:t>
            </a:r>
          </a:p>
        </p:txBody>
      </p:sp>
      <p:pic>
        <p:nvPicPr>
          <p:cNvPr id="6" name="Picture 5" descr="vqc_vs_classical_accuracy.png"/>
          <p:cNvPicPr>
            <a:picLocks noChangeAspect="1"/>
          </p:cNvPicPr>
          <p:nvPr/>
        </p:nvPicPr>
        <p:blipFill>
          <a:blip r:embed="rId2"/>
          <a:stretch>
            <a:fillRect/>
          </a:stretch>
        </p:blipFill>
        <p:spPr>
          <a:xfrm>
            <a:off x="6400800" y="2214154"/>
            <a:ext cx="5257800" cy="3755571"/>
          </a:xfrm>
          <a:prstGeom prst="rect">
            <a:avLst/>
          </a:prstGeom>
          <a:ln w="9525">
            <a:solidFill>
              <a:srgbClr val="E2E8F0"/>
            </a:solidFill>
          </a:ln>
        </p:spPr>
      </p:pic>
      <p:sp>
        <p:nvSpPr>
          <p:cNvPr id="7" name="TextBox 6"/>
          <p:cNvSpPr txBox="1"/>
          <p:nvPr/>
        </p:nvSpPr>
        <p:spPr>
          <a:xfrm>
            <a:off x="548640" y="2286000"/>
            <a:ext cx="5577840" cy="3200400"/>
          </a:xfrm>
          <a:prstGeom prst="rect">
            <a:avLst/>
          </a:prstGeom>
          <a:noFill/>
        </p:spPr>
        <p:txBody>
          <a:bodyPr wrap="square" lIns="0" rIns="0" tIns="0" bIns="0">
            <a:spAutoFit/>
          </a:bodyPr>
          <a:lstStyle/>
          <a:p>
            <a:pPr>
              <a:lnSpc>
                <a:spcPct val="108000"/>
              </a:lnSpc>
              <a:spcAft>
                <a:spcPts val="1400"/>
              </a:spcAft>
            </a:pPr>
            <a:r>
              <a:rPr sz="1600" b="0">
                <a:solidFill>
                  <a:srgbClr val="475569"/>
                </a:solidFill>
                <a:latin typeface="Calibri"/>
              </a:rPr>
              <a:t>•  8 seeds each: VQC 62.46% ± 0.85pt; classical 99.83% ± 0.09pt: a 37.4-point gap.</a:t>
            </a:r>
          </a:p>
          <a:p>
            <a:pPr>
              <a:lnSpc>
                <a:spcPct val="108000"/>
              </a:lnSpc>
              <a:spcAft>
                <a:spcPts val="1400"/>
              </a:spcAft>
            </a:pPr>
            <a:r>
              <a:rPr sz="1600" b="0">
                <a:solidFill>
                  <a:srgbClr val="475569"/>
                </a:solidFill>
                <a:latin typeface="Calibri"/>
              </a:rPr>
              <a:t>•  No overlap between the two seed distributions.</a:t>
            </a:r>
          </a:p>
        </p:txBody>
      </p:sp>
      <p:sp>
        <p:nvSpPr>
          <p:cNvPr id="8" name="Rounded Rectangle 7"/>
          <p:cNvSpPr/>
          <p:nvPr/>
        </p:nvSpPr>
        <p:spPr>
          <a:xfrm>
            <a:off x="548640" y="4023360"/>
            <a:ext cx="5577840" cy="96012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d = 43.7</a:t>
            </a:r>
          </a:p>
          <a:p>
            <a:pPr algn="l">
              <a:spcBef>
                <a:spcPts val="200"/>
              </a:spcBef>
            </a:pPr>
            <a:r>
              <a:rPr sz="1150">
                <a:solidFill>
                  <a:srgbClr val="475569"/>
                </a:solidFill>
                <a:latin typeface="Calibri"/>
              </a:rPr>
              <a:t>Paired Cohen's d</a:t>
            </a:r>
          </a:p>
        </p:txBody>
      </p:sp>
      <p:sp>
        <p:nvSpPr>
          <p:cNvPr id="9" name="Rounded Rectangle 8"/>
          <p:cNvSpPr/>
          <p:nvPr/>
        </p:nvSpPr>
        <p:spPr>
          <a:xfrm>
            <a:off x="548640" y="5166360"/>
            <a:ext cx="5577840" cy="96012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p &lt; 0.001</a:t>
            </a:r>
          </a:p>
          <a:p>
            <a:pPr algn="l">
              <a:spcBef>
                <a:spcPts val="200"/>
              </a:spcBef>
            </a:pPr>
            <a:r>
              <a:rPr sz="1150">
                <a:solidFill>
                  <a:srgbClr val="475569"/>
                </a:solidFill>
                <a:latin typeface="Calibri"/>
              </a:rPr>
              <a:t>Wilcoxon signed-rank, 8 seeds</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Results · RQ(e)</a:t>
            </a:r>
          </a:p>
        </p:txBody>
      </p:sp>
      <p:sp>
        <p:nvSpPr>
          <p:cNvPr id="11" name="TextBox 10"/>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RESULTS · RQ(E): HYBRID VS. CLASSICAL</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The classical baseline is also much harder to attack: this is not a tradeoff</a:t>
            </a:r>
          </a:p>
        </p:txBody>
      </p:sp>
      <p:pic>
        <p:nvPicPr>
          <p:cNvPr id="6" name="Picture 5" descr="rq_e_robustness_comparison.png"/>
          <p:cNvPicPr>
            <a:picLocks noChangeAspect="1"/>
          </p:cNvPicPr>
          <p:nvPr/>
        </p:nvPicPr>
        <p:blipFill>
          <a:blip r:embed="rId2"/>
          <a:stretch>
            <a:fillRect/>
          </a:stretch>
        </p:blipFill>
        <p:spPr>
          <a:xfrm>
            <a:off x="6400800" y="2284571"/>
            <a:ext cx="5257800" cy="3614737"/>
          </a:xfrm>
          <a:prstGeom prst="rect">
            <a:avLst/>
          </a:prstGeom>
          <a:ln w="9525">
            <a:solidFill>
              <a:srgbClr val="E2E8F0"/>
            </a:solidFill>
          </a:ln>
        </p:spPr>
      </p:pic>
      <p:sp>
        <p:nvSpPr>
          <p:cNvPr id="7" name="TextBox 6"/>
          <p:cNvSpPr txBox="1"/>
          <p:nvPr/>
        </p:nvSpPr>
        <p:spPr>
          <a:xfrm>
            <a:off x="548640" y="2286000"/>
            <a:ext cx="5577840" cy="1828800"/>
          </a:xfrm>
          <a:prstGeom prst="rect">
            <a:avLst/>
          </a:prstGeom>
          <a:noFill/>
        </p:spPr>
        <p:txBody>
          <a:bodyPr wrap="square" lIns="0" rIns="0" tIns="0" bIns="0">
            <a:spAutoFit/>
          </a:bodyPr>
          <a:lstStyle/>
          <a:p>
            <a:pPr>
              <a:lnSpc>
                <a:spcPct val="108000"/>
              </a:lnSpc>
              <a:spcAft>
                <a:spcPts val="1200"/>
              </a:spcAft>
            </a:pPr>
            <a:r>
              <a:rPr sz="1550" b="0">
                <a:solidFill>
                  <a:srgbClr val="475569"/>
                </a:solidFill>
                <a:latin typeface="Calibri"/>
              </a:rPr>
              <a:t>•  FGSM attack success: 36–58% (VQC) vs. under 3% (classical), across all nonzero ε.</a:t>
            </a:r>
          </a:p>
          <a:p>
            <a:pPr>
              <a:lnSpc>
                <a:spcPct val="108000"/>
              </a:lnSpc>
              <a:spcAft>
                <a:spcPts val="1200"/>
              </a:spcAft>
            </a:pPr>
            <a:r>
              <a:rPr sz="1550" b="0">
                <a:solidFill>
                  <a:srgbClr val="475569"/>
                </a:solidFill>
                <a:latin typeface="Calibri"/>
              </a:rPr>
              <a:t>•  PGD, the stronger attack: up to 95.7% (VQC) vs. under 1% (classical).</a:t>
            </a:r>
          </a:p>
        </p:txBody>
      </p:sp>
      <p:sp>
        <p:nvSpPr>
          <p:cNvPr id="8" name="Rounded Rectangle 7"/>
          <p:cNvSpPr/>
          <p:nvPr/>
        </p:nvSpPr>
        <p:spPr>
          <a:xfrm>
            <a:off x="548640" y="3794760"/>
            <a:ext cx="5577840" cy="91440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d = −9.9 to −20.3</a:t>
            </a:r>
          </a:p>
          <a:p>
            <a:pPr algn="l">
              <a:spcBef>
                <a:spcPts val="200"/>
              </a:spcBef>
            </a:pPr>
            <a:r>
              <a:rPr sz="1150">
                <a:solidFill>
                  <a:srgbClr val="475569"/>
                </a:solidFill>
                <a:latin typeface="Calibri"/>
              </a:rPr>
              <a:t>FGSM, per-ε (FDR-corrected)</a:t>
            </a:r>
          </a:p>
        </p:txBody>
      </p:sp>
      <p:sp>
        <p:nvSpPr>
          <p:cNvPr id="9" name="Rounded Rectangle 8"/>
          <p:cNvSpPr/>
          <p:nvPr/>
        </p:nvSpPr>
        <p:spPr>
          <a:xfrm>
            <a:off x="548640" y="4892040"/>
            <a:ext cx="5577840" cy="91440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d = −10.2 to −25.5</a:t>
            </a:r>
          </a:p>
          <a:p>
            <a:pPr algn="l">
              <a:spcBef>
                <a:spcPts val="200"/>
              </a:spcBef>
            </a:pPr>
            <a:r>
              <a:rPr sz="1150">
                <a:solidFill>
                  <a:srgbClr val="475569"/>
                </a:solidFill>
                <a:latin typeface="Calibri"/>
              </a:rPr>
              <a:t>PGD, per-ε</a:t>
            </a:r>
          </a:p>
        </p:txBody>
      </p:sp>
      <p:sp>
        <p:nvSpPr>
          <p:cNvPr id="10" name="TextBox 9"/>
          <p:cNvSpPr txBox="1"/>
          <p:nvPr/>
        </p:nvSpPr>
        <p:spPr>
          <a:xfrm>
            <a:off x="548640" y="5989320"/>
            <a:ext cx="5577840" cy="640080"/>
          </a:xfrm>
          <a:prstGeom prst="rect">
            <a:avLst/>
          </a:prstGeom>
          <a:noFill/>
        </p:spPr>
        <p:txBody>
          <a:bodyPr wrap="square" anchor="t" lIns="0" rIns="0" tIns="0" bIns="0">
            <a:spAutoFit/>
          </a:bodyPr>
          <a:lstStyle/>
          <a:p>
            <a:pPr algn="l">
              <a:lnSpc>
                <a:spcPct val="100000"/>
              </a:lnSpc>
              <a:spcAft>
                <a:spcPts val="0"/>
              </a:spcAft>
            </a:pPr>
            <a:r>
              <a:rPr sz="1350" b="0" i="1">
                <a:solidFill>
                  <a:srgbClr val="475569"/>
                </a:solidFill>
                <a:latin typeface="Calibri"/>
              </a:rPr>
              <a:t>The VQC loses on accuracy and on robustness: two independent disadvantages, not one traded for the other.</a:t>
            </a:r>
          </a:p>
        </p:txBody>
      </p:sp>
      <p:sp>
        <p:nvSpPr>
          <p:cNvPr id="11" name="TextBox 10"/>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Results · RQ(e)</a:t>
            </a:r>
          </a:p>
        </p:txBody>
      </p:sp>
      <p:sp>
        <p:nvSpPr>
          <p:cNvPr id="12" name="TextBox 11"/>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RESULTS · RQ(A): WHICH NOISE TYPE MATTERS MOST</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Depolarizing noise dominates; phase damping is moderate; readout barely registers</a:t>
            </a:r>
          </a:p>
        </p:txBody>
      </p:sp>
      <p:pic>
        <p:nvPicPr>
          <p:cNvPr id="6" name="Picture 5" descr="accuracy_vs_noise_level.png"/>
          <p:cNvPicPr>
            <a:picLocks noChangeAspect="1"/>
          </p:cNvPicPr>
          <p:nvPr/>
        </p:nvPicPr>
        <p:blipFill>
          <a:blip r:embed="rId2"/>
          <a:stretch>
            <a:fillRect/>
          </a:stretch>
        </p:blipFill>
        <p:spPr>
          <a:xfrm>
            <a:off x="6309360" y="2253138"/>
            <a:ext cx="5349240" cy="3677602"/>
          </a:xfrm>
          <a:prstGeom prst="rect">
            <a:avLst/>
          </a:prstGeom>
          <a:ln w="9525">
            <a:solidFill>
              <a:srgbClr val="E2E8F0"/>
            </a:solidFill>
          </a:ln>
        </p:spPr>
      </p:pic>
      <p:sp>
        <p:nvSpPr>
          <p:cNvPr id="7" name="TextBox 6"/>
          <p:cNvSpPr txBox="1"/>
          <p:nvPr/>
        </p:nvSpPr>
        <p:spPr>
          <a:xfrm>
            <a:off x="548640" y="2286000"/>
            <a:ext cx="5486400" cy="2011680"/>
          </a:xfrm>
          <a:prstGeom prst="rect">
            <a:avLst/>
          </a:prstGeom>
          <a:noFill/>
        </p:spPr>
        <p:txBody>
          <a:bodyPr wrap="square" lIns="0" rIns="0" tIns="0" bIns="0">
            <a:spAutoFit/>
          </a:bodyPr>
          <a:lstStyle/>
          <a:p>
            <a:pPr>
              <a:lnSpc>
                <a:spcPct val="108000"/>
              </a:lnSpc>
              <a:spcAft>
                <a:spcPts val="1200"/>
              </a:spcAft>
            </a:pPr>
            <a:r>
              <a:rPr sz="1500" b="0">
                <a:solidFill>
                  <a:srgbClr val="475569"/>
                </a:solidFill>
                <a:latin typeface="Calibri"/>
              </a:rPr>
              <a:t>•  At the strongest level (L4): 55.1% (depolarizing) vs. 60.9% (phase damping) vs. 62.4% (readout).</a:t>
            </a:r>
          </a:p>
          <a:p>
            <a:pPr>
              <a:lnSpc>
                <a:spcPct val="108000"/>
              </a:lnSpc>
              <a:spcAft>
                <a:spcPts val="1200"/>
              </a:spcAft>
            </a:pPr>
            <a:r>
              <a:rPr sz="1500" b="0">
                <a:solidFill>
                  <a:srgbClr val="475569"/>
                </a:solidFill>
                <a:latin typeface="Calibri"/>
              </a:rPr>
              <a:t>•  Depolarizing also disproportionately damages recall (71.3%→49.7% at L4): a systematic shift in the decision function, not shot noise.</a:t>
            </a:r>
          </a:p>
        </p:txBody>
      </p:sp>
      <p:sp>
        <p:nvSpPr>
          <p:cNvPr id="8" name="Rounded Rectangle 7"/>
          <p:cNvSpPr/>
          <p:nvPr/>
        </p:nvSpPr>
        <p:spPr>
          <a:xfrm>
            <a:off x="548640" y="3977639"/>
            <a:ext cx="5486400" cy="96012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d &gt; 2.5, all pairs</a:t>
            </a:r>
          </a:p>
          <a:p>
            <a:pPr algn="l">
              <a:spcBef>
                <a:spcPts val="200"/>
              </a:spcBef>
            </a:pPr>
            <a:r>
              <a:rPr sz="1150">
                <a:solidFill>
                  <a:srgbClr val="475569"/>
                </a:solidFill>
                <a:latin typeface="Calibri"/>
              </a:rPr>
              <a:t>All three pairwise comparisons</a:t>
            </a:r>
          </a:p>
        </p:txBody>
      </p:sp>
      <p:sp>
        <p:nvSpPr>
          <p:cNvPr id="9" name="Rounded Rectangle 8"/>
          <p:cNvSpPr/>
          <p:nvPr/>
        </p:nvSpPr>
        <p:spPr>
          <a:xfrm>
            <a:off x="548640" y="5120639"/>
            <a:ext cx="5486400" cy="96012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FDR p &lt; 0.001</a:t>
            </a:r>
          </a:p>
          <a:p>
            <a:pPr algn="l">
              <a:spcBef>
                <a:spcPts val="200"/>
              </a:spcBef>
            </a:pPr>
            <a:r>
              <a:rPr sz="1150">
                <a:solidFill>
                  <a:srgbClr val="475569"/>
                </a:solidFill>
                <a:latin typeface="Calibri"/>
              </a:rPr>
              <a:t>All three pairwise comparisons</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Results · RQ(a)</a:t>
            </a:r>
          </a:p>
        </p:txBody>
      </p:sp>
      <p:sp>
        <p:nvSpPr>
          <p:cNvPr id="11" name="TextBox 10"/>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RESULTS · RQ(B) &amp; RQ(C)</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Noise intensity tracks accuracy tightly, but not attack success, and accuracy does not predict robustness</a:t>
            </a:r>
          </a:p>
        </p:txBody>
      </p:sp>
      <p:sp>
        <p:nvSpPr>
          <p:cNvPr id="6" name="TextBox 5"/>
          <p:cNvSpPr txBox="1"/>
          <p:nvPr/>
        </p:nvSpPr>
        <p:spPr>
          <a:xfrm>
            <a:off x="548640" y="2148840"/>
            <a:ext cx="10972800" cy="36576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RQ(b): NOISE INTENSITY vs. OUTCOME</a:t>
            </a:r>
          </a:p>
        </p:txBody>
      </p:sp>
      <p:sp>
        <p:nvSpPr>
          <p:cNvPr id="7" name="TextBox 6"/>
          <p:cNvSpPr txBox="1"/>
          <p:nvPr/>
        </p:nvSpPr>
        <p:spPr>
          <a:xfrm>
            <a:off x="548640" y="2560320"/>
            <a:ext cx="10972800" cy="1463040"/>
          </a:xfrm>
          <a:prstGeom prst="rect">
            <a:avLst/>
          </a:prstGeom>
          <a:noFill/>
        </p:spPr>
        <p:txBody>
          <a:bodyPr wrap="square" lIns="0" rIns="0" tIns="0" bIns="0">
            <a:spAutoFit/>
          </a:bodyPr>
          <a:lstStyle/>
          <a:p>
            <a:pPr>
              <a:lnSpc>
                <a:spcPct val="108000"/>
              </a:lnSpc>
              <a:spcAft>
                <a:spcPts val="1000"/>
              </a:spcAft>
            </a:pPr>
            <a:r>
              <a:rPr sz="1450" b="1">
                <a:solidFill>
                  <a:srgbClr val="1E293B"/>
                </a:solidFill>
                <a:latin typeface="Calibri"/>
              </a:rPr>
              <a:t>•  Clean accuracy:</a:t>
            </a:r>
            <a:r>
              <a:rPr sz="1450" b="0">
                <a:solidFill>
                  <a:srgbClr val="475569"/>
                </a:solidFill>
                <a:latin typeface="Calibri"/>
              </a:rPr>
              <a:t>  strong, consistent monotonic decline: Spearman r = −0.95 (depolarizing), −0.84 (phase damping), −0.39 (readout), all significant.</a:t>
            </a:r>
          </a:p>
          <a:p>
            <a:pPr>
              <a:lnSpc>
                <a:spcPct val="108000"/>
              </a:lnSpc>
              <a:spcAft>
                <a:spcPts val="1000"/>
              </a:spcAft>
            </a:pPr>
            <a:r>
              <a:rPr sz="1450" b="1">
                <a:solidFill>
                  <a:srgbClr val="1E293B"/>
                </a:solidFill>
                <a:latin typeface="Calibri"/>
              </a:rPr>
              <a:t>•  Attack success (averaged across ε):</a:t>
            </a:r>
            <a:r>
              <a:rPr sz="1450" b="0">
                <a:solidFill>
                  <a:srgbClr val="475569"/>
                </a:solidFill>
                <a:latin typeface="Calibri"/>
              </a:rPr>
              <a:t>  only weak, borderline significance for depolarizing (r = 0.23, p = 0.041 t-test; p = 0.078 Wilcoxon). No detectable trend for the other two channels.</a:t>
            </a:r>
          </a:p>
        </p:txBody>
      </p:sp>
      <p:sp>
        <p:nvSpPr>
          <p:cNvPr id="8" name="TextBox 7"/>
          <p:cNvSpPr txBox="1"/>
          <p:nvPr/>
        </p:nvSpPr>
        <p:spPr>
          <a:xfrm>
            <a:off x="548640" y="4343400"/>
            <a:ext cx="10972800" cy="36576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RQ(c): ACCURACY vs. ROBUSTNESS</a:t>
            </a:r>
          </a:p>
        </p:txBody>
      </p:sp>
      <p:sp>
        <p:nvSpPr>
          <p:cNvPr id="9" name="TextBox 8"/>
          <p:cNvSpPr txBox="1"/>
          <p:nvPr/>
        </p:nvSpPr>
        <p:spPr>
          <a:xfrm>
            <a:off x="548640" y="4754880"/>
            <a:ext cx="10972800" cy="1097280"/>
          </a:xfrm>
          <a:prstGeom prst="rect">
            <a:avLst/>
          </a:prstGeom>
          <a:noFill/>
        </p:spPr>
        <p:txBody>
          <a:bodyPr wrap="square" lIns="0" rIns="0" tIns="0" bIns="0">
            <a:spAutoFit/>
          </a:bodyPr>
          <a:lstStyle/>
          <a:p>
            <a:pPr>
              <a:lnSpc>
                <a:spcPct val="108000"/>
              </a:lnSpc>
              <a:spcAft>
                <a:spcPts val="0"/>
              </a:spcAft>
            </a:pPr>
            <a:r>
              <a:rPr sz="1450" b="0">
                <a:solidFill>
                  <a:srgbClr val="475569"/>
                </a:solidFill>
                <a:latin typeface="Calibri"/>
              </a:rPr>
              <a:t>•  Per-seed Spearman correlation between clean-under-noise accuracy and accuracy-under-attack, across all 14 noise conditions.</a:t>
            </a:r>
          </a:p>
        </p:txBody>
      </p:sp>
      <p:sp>
        <p:nvSpPr>
          <p:cNvPr id="10" name="Rounded Rectangle 9"/>
          <p:cNvSpPr/>
          <p:nvPr/>
        </p:nvSpPr>
        <p:spPr>
          <a:xfrm>
            <a:off x="548640" y="5440680"/>
            <a:ext cx="3566160" cy="91440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r = 0.27</a:t>
            </a:r>
          </a:p>
          <a:p>
            <a:pPr algn="l">
              <a:spcBef>
                <a:spcPts val="200"/>
              </a:spcBef>
            </a:pPr>
            <a:r>
              <a:rPr sz="1150">
                <a:solidFill>
                  <a:srgbClr val="475569"/>
                </a:solidFill>
                <a:latin typeface="Calibri"/>
              </a:rPr>
              <a:t>Mean per-seed correlation</a:t>
            </a:r>
          </a:p>
        </p:txBody>
      </p:sp>
      <p:sp>
        <p:nvSpPr>
          <p:cNvPr id="11" name="Rounded Rectangle 10"/>
          <p:cNvSpPr/>
          <p:nvPr/>
        </p:nvSpPr>
        <p:spPr>
          <a:xfrm>
            <a:off x="4297679" y="5440680"/>
            <a:ext cx="3566160" cy="91440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p = 0.14</a:t>
            </a:r>
          </a:p>
          <a:p>
            <a:pPr algn="l">
              <a:spcBef>
                <a:spcPts val="200"/>
              </a:spcBef>
            </a:pPr>
            <a:r>
              <a:rPr sz="1150">
                <a:solidFill>
                  <a:srgbClr val="475569"/>
                </a:solidFill>
                <a:latin typeface="Calibri"/>
              </a:rPr>
              <a:t>Not significant, n = 8</a:t>
            </a:r>
          </a:p>
        </p:txBody>
      </p:sp>
      <p:sp>
        <p:nvSpPr>
          <p:cNvPr id="12" name="TextBox 11"/>
          <p:cNvSpPr txBox="1"/>
          <p:nvPr/>
        </p:nvSpPr>
        <p:spPr>
          <a:xfrm>
            <a:off x="8046719" y="5440680"/>
            <a:ext cx="3657600" cy="914400"/>
          </a:xfrm>
          <a:prstGeom prst="rect">
            <a:avLst/>
          </a:prstGeom>
          <a:noFill/>
        </p:spPr>
        <p:txBody>
          <a:bodyPr wrap="square" anchor="ctr" lIns="0" rIns="0" tIns="0" bIns="0">
            <a:spAutoFit/>
          </a:bodyPr>
          <a:lstStyle/>
          <a:p>
            <a:pPr algn="l">
              <a:lnSpc>
                <a:spcPct val="100000"/>
              </a:lnSpc>
              <a:spcAft>
                <a:spcPts val="0"/>
              </a:spcAft>
            </a:pPr>
            <a:r>
              <a:rPr sz="1300" b="0" i="1">
                <a:solidFill>
                  <a:srgbClr val="475569"/>
                </a:solidFill>
                <a:latin typeface="Calibri"/>
              </a:rPr>
              <a:t>A genuine null result, not an absence of testing.</a:t>
            </a:r>
          </a:p>
        </p:txBody>
      </p:sp>
      <p:sp>
        <p:nvSpPr>
          <p:cNvPr id="13" name="TextBox 12"/>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Results · RQ(b), RQ(c)</a:t>
            </a:r>
          </a:p>
        </p:txBody>
      </p:sp>
      <p:sp>
        <p:nvSpPr>
          <p:cNvPr id="14" name="TextBox 13"/>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RESULTS · ATTACK METHODOLOGY</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FGSM understated the VQC's vulnerability by nearly 40 percentage points</a:t>
            </a:r>
          </a:p>
        </p:txBody>
      </p:sp>
      <p:pic>
        <p:nvPicPr>
          <p:cNvPr id="6" name="Picture 5" descr="fgsm_vs_pgd_comparison.png"/>
          <p:cNvPicPr>
            <a:picLocks noChangeAspect="1"/>
          </p:cNvPicPr>
          <p:nvPr/>
        </p:nvPicPr>
        <p:blipFill>
          <a:blip r:embed="rId2"/>
          <a:stretch>
            <a:fillRect/>
          </a:stretch>
        </p:blipFill>
        <p:spPr>
          <a:xfrm>
            <a:off x="6126480" y="2213134"/>
            <a:ext cx="5532120" cy="3803332"/>
          </a:xfrm>
          <a:prstGeom prst="rect">
            <a:avLst/>
          </a:prstGeom>
          <a:ln w="9525">
            <a:solidFill>
              <a:srgbClr val="E2E8F0"/>
            </a:solidFill>
          </a:ln>
        </p:spPr>
      </p:pic>
      <p:sp>
        <p:nvSpPr>
          <p:cNvPr id="7" name="TextBox 6"/>
          <p:cNvSpPr txBox="1"/>
          <p:nvPr/>
        </p:nvSpPr>
        <p:spPr>
          <a:xfrm>
            <a:off x="548640" y="2286000"/>
            <a:ext cx="5303520" cy="2194560"/>
          </a:xfrm>
          <a:prstGeom prst="rect">
            <a:avLst/>
          </a:prstGeom>
          <a:noFill/>
        </p:spPr>
        <p:txBody>
          <a:bodyPr wrap="square" lIns="0" rIns="0" tIns="0" bIns="0">
            <a:spAutoFit/>
          </a:bodyPr>
          <a:lstStyle/>
          <a:p>
            <a:pPr>
              <a:lnSpc>
                <a:spcPct val="108000"/>
              </a:lnSpc>
              <a:spcAft>
                <a:spcPts val="1200"/>
              </a:spcAft>
            </a:pPr>
            <a:r>
              <a:rPr sz="1500" b="0">
                <a:solidFill>
                  <a:srgbClr val="475569"/>
                </a:solidFill>
                <a:latin typeface="Calibri"/>
              </a:rPr>
              <a:t>•  FGSM: peak attack success 58.4% at ε = 0.05.</a:t>
            </a:r>
          </a:p>
          <a:p>
            <a:pPr>
              <a:lnSpc>
                <a:spcPct val="108000"/>
              </a:lnSpc>
              <a:spcAft>
                <a:spcPts val="1200"/>
              </a:spcAft>
            </a:pPr>
            <a:r>
              <a:rPr sz="1500" b="0">
                <a:solidFill>
                  <a:srgbClr val="475569"/>
                </a:solidFill>
                <a:latin typeface="Calibri"/>
              </a:rPr>
              <a:t>•  PGD (stronger, iterative): 95.7% at the nearby ε = 0.1.</a:t>
            </a:r>
          </a:p>
          <a:p>
            <a:pPr>
              <a:lnSpc>
                <a:spcPct val="108000"/>
              </a:lnSpc>
              <a:spcAft>
                <a:spcPts val="1200"/>
              </a:spcAft>
            </a:pPr>
            <a:r>
              <a:rPr sz="1500" b="0">
                <a:solidFill>
                  <a:srgbClr val="475569"/>
                </a:solidFill>
                <a:latin typeface="Calibri"/>
              </a:rPr>
              <a:t>•  The classical baseline stays under 1% attack success under PGD through ε = 0.2.</a:t>
            </a:r>
          </a:p>
        </p:txBody>
      </p:sp>
      <p:sp>
        <p:nvSpPr>
          <p:cNvPr id="8" name="Rounded Rectangle 7"/>
          <p:cNvSpPr/>
          <p:nvPr/>
        </p:nvSpPr>
        <p:spPr>
          <a:xfrm>
            <a:off x="548640" y="4206240"/>
            <a:ext cx="5303520" cy="91440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d = 2.6 to 10.3</a:t>
            </a:r>
          </a:p>
          <a:p>
            <a:pPr algn="l">
              <a:spcBef>
                <a:spcPts val="200"/>
              </a:spcBef>
            </a:pPr>
            <a:r>
              <a:rPr sz="1150">
                <a:solidFill>
                  <a:srgbClr val="475569"/>
                </a:solidFill>
                <a:latin typeface="Calibri"/>
              </a:rPr>
              <a:t>FGSM vs. PGD, matched ε, VQC</a:t>
            </a:r>
          </a:p>
        </p:txBody>
      </p:sp>
      <p:sp>
        <p:nvSpPr>
          <p:cNvPr id="9" name="Rounded Rectangle 8"/>
          <p:cNvSpPr/>
          <p:nvPr/>
        </p:nvSpPr>
        <p:spPr>
          <a:xfrm>
            <a:off x="548640" y="5303520"/>
            <a:ext cx="5303520" cy="91440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FDR p = 0.0078</a:t>
            </a:r>
          </a:p>
          <a:p>
            <a:pPr algn="l">
              <a:spcBef>
                <a:spcPts val="200"/>
              </a:spcBef>
            </a:pPr>
            <a:r>
              <a:rPr sz="1150">
                <a:solidFill>
                  <a:srgbClr val="475569"/>
                </a:solidFill>
                <a:latin typeface="Calibri"/>
              </a:rPr>
              <a:t>All four matched ε (min. achievable, n=8)</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Results · Attack Methodology</a:t>
            </a:r>
          </a:p>
        </p:txBody>
      </p:sp>
      <p:sp>
        <p:nvSpPr>
          <p:cNvPr id="11" name="TextBox 10"/>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RESULTS · MAIN RESEARCH QUESTION</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500" b="1" i="0">
                <a:solidFill>
                  <a:srgbClr val="1E293B"/>
                </a:solidFill>
                <a:latin typeface="Calibri"/>
              </a:rPr>
              <a:t>Depolarizing noise raises attack success, except at the model's single most vulnerable point</a:t>
            </a:r>
          </a:p>
        </p:txBody>
      </p:sp>
      <p:pic>
        <p:nvPicPr>
          <p:cNvPr id="6" name="Picture 5" descr="attack_success_heatmap.png"/>
          <p:cNvPicPr>
            <a:picLocks noChangeAspect="1"/>
          </p:cNvPicPr>
          <p:nvPr/>
        </p:nvPicPr>
        <p:blipFill>
          <a:blip r:embed="rId2"/>
          <a:stretch>
            <a:fillRect/>
          </a:stretch>
        </p:blipFill>
        <p:spPr>
          <a:xfrm>
            <a:off x="2337457" y="3063240"/>
            <a:ext cx="7486605" cy="3063240"/>
          </a:xfrm>
          <a:prstGeom prst="rect">
            <a:avLst/>
          </a:prstGeom>
          <a:ln w="9525">
            <a:solidFill>
              <a:srgbClr val="E2E8F0"/>
            </a:solidFill>
          </a:ln>
        </p:spPr>
      </p:pic>
      <p:sp>
        <p:nvSpPr>
          <p:cNvPr id="7" name="TextBox 6"/>
          <p:cNvSpPr txBox="1"/>
          <p:nvPr/>
        </p:nvSpPr>
        <p:spPr>
          <a:xfrm>
            <a:off x="548640" y="2011680"/>
            <a:ext cx="10972800" cy="1005840"/>
          </a:xfrm>
          <a:prstGeom prst="rect">
            <a:avLst/>
          </a:prstGeom>
          <a:noFill/>
        </p:spPr>
        <p:txBody>
          <a:bodyPr wrap="square" lIns="0" rIns="0" tIns="0" bIns="0">
            <a:spAutoFit/>
          </a:bodyPr>
          <a:lstStyle/>
          <a:p>
            <a:pPr>
              <a:lnSpc>
                <a:spcPct val="108000"/>
              </a:lnSpc>
              <a:spcAft>
                <a:spcPts val="0"/>
              </a:spcAft>
            </a:pPr>
            <a:r>
              <a:rPr sz="1450" b="0">
                <a:solidFill>
                  <a:srgbClr val="475569"/>
                </a:solidFill>
                <a:latin typeface="Calibri"/>
              </a:rPr>
              <a:t>•  6 of 7 epsilon rows climb with noise level (e.g. +8.6pt at ε=0.02). Only ε = 0.05, the noiseless model's peak vulnerability, falls by 4.8pt (58.8%→54.0%).</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Results · Main RQ</a:t>
            </a:r>
          </a:p>
        </p:txBody>
      </p:sp>
      <p:sp>
        <p:nvSpPr>
          <p:cNvPr id="9" name="TextBox 8"/>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RESULTS · RQ(D): DOES MITIGATION HELP</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Neither mitigation technique improved robustness, in any of 7 tested conditions</a:t>
            </a:r>
          </a:p>
        </p:txBody>
      </p:sp>
      <p:pic>
        <p:nvPicPr>
          <p:cNvPr id="6" name="Picture 5" descr="mitigation_vs_unmitigated.png"/>
          <p:cNvPicPr>
            <a:picLocks noChangeAspect="1"/>
          </p:cNvPicPr>
          <p:nvPr/>
        </p:nvPicPr>
        <p:blipFill>
          <a:blip r:embed="rId2"/>
          <a:stretch>
            <a:fillRect/>
          </a:stretch>
        </p:blipFill>
        <p:spPr>
          <a:xfrm>
            <a:off x="6309360" y="2633056"/>
            <a:ext cx="5349240" cy="2917767"/>
          </a:xfrm>
          <a:prstGeom prst="rect">
            <a:avLst/>
          </a:prstGeom>
          <a:ln w="9525">
            <a:solidFill>
              <a:srgbClr val="E2E8F0"/>
            </a:solidFill>
          </a:ln>
        </p:spPr>
      </p:pic>
      <p:sp>
        <p:nvSpPr>
          <p:cNvPr id="7" name="TextBox 6"/>
          <p:cNvSpPr txBox="1"/>
          <p:nvPr/>
        </p:nvSpPr>
        <p:spPr>
          <a:xfrm>
            <a:off x="548640" y="2286000"/>
            <a:ext cx="5486400" cy="2377440"/>
          </a:xfrm>
          <a:prstGeom prst="rect">
            <a:avLst/>
          </a:prstGeom>
          <a:noFill/>
        </p:spPr>
        <p:txBody>
          <a:bodyPr wrap="square" lIns="0" rIns="0" tIns="0" bIns="0">
            <a:spAutoFit/>
          </a:bodyPr>
          <a:lstStyle/>
          <a:p>
            <a:pPr>
              <a:lnSpc>
                <a:spcPct val="108000"/>
              </a:lnSpc>
              <a:spcAft>
                <a:spcPts val="1200"/>
              </a:spcAft>
            </a:pPr>
            <a:r>
              <a:rPr sz="1400" b="0">
                <a:solidFill>
                  <a:srgbClr val="475569"/>
                </a:solidFill>
                <a:latin typeface="Calibri"/>
              </a:rPr>
              <a:t>•  Readout calibration: 3 conditions tested. Zero-noise extrapolation: 4 conditions tested. Point estimates are small and, if anything, slightly negative.</a:t>
            </a:r>
          </a:p>
          <a:p>
            <a:pPr>
              <a:lnSpc>
                <a:spcPct val="108000"/>
              </a:lnSpc>
              <a:spcAft>
                <a:spcPts val="1200"/>
              </a:spcAft>
            </a:pPr>
            <a:r>
              <a:rPr sz="1400" b="1">
                <a:solidFill>
                  <a:srgbClr val="1E293B"/>
                </a:solidFill>
                <a:latin typeface="Calibri"/>
              </a:rPr>
              <a:t>•  Two plausible mechanisms:</a:t>
            </a:r>
            <a:r>
              <a:rPr sz="1400" b="0">
                <a:solidFill>
                  <a:srgbClr val="475569"/>
                </a:solidFill>
                <a:latin typeface="Calibri"/>
              </a:rPr>
              <a:t>  readout calibration has almost nothing to correct (readout barely affects accuracy); linear ZNE likely mismatches depolarizing noise's near-exponential decay.</a:t>
            </a:r>
          </a:p>
        </p:txBody>
      </p:sp>
      <p:sp>
        <p:nvSpPr>
          <p:cNvPr id="8" name="Rounded Rectangle 7"/>
          <p:cNvSpPr/>
          <p:nvPr/>
        </p:nvSpPr>
        <p:spPr>
          <a:xfrm>
            <a:off x="548640" y="4709160"/>
            <a:ext cx="5486400" cy="960120"/>
          </a:xfrm>
          <a:prstGeom prst="roundRect">
            <a:avLst>
              <a:gd name="adj" fmla="val 6000"/>
            </a:avLst>
          </a:prstGeom>
          <a:solidFill>
            <a:srgbClr val="F6F8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900" b="1">
                <a:solidFill>
                  <a:srgbClr val="0A5C56"/>
                </a:solidFill>
                <a:latin typeface="Calibri"/>
              </a:rPr>
              <a:t>FDR p ≥ 0.73</a:t>
            </a:r>
          </a:p>
          <a:p>
            <a:pPr algn="l">
              <a:spcBef>
                <a:spcPts val="200"/>
              </a:spcBef>
            </a:pPr>
            <a:r>
              <a:rPr sz="1150">
                <a:solidFill>
                  <a:srgbClr val="475569"/>
                </a:solidFill>
                <a:latin typeface="Calibri"/>
              </a:rPr>
              <a:t>All 7 conditions</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Results · RQ(d)</a:t>
            </a:r>
          </a:p>
        </p:txBody>
      </p:sp>
      <p:sp>
        <p:nvSpPr>
          <p:cNvPr id="10" name="TextBox 9"/>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DISCUSSION</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Two findings shape how this result should be read</a:t>
            </a:r>
          </a:p>
        </p:txBody>
      </p:sp>
      <p:sp>
        <p:nvSpPr>
          <p:cNvPr id="6" name="TextBox 5"/>
          <p:cNvSpPr txBox="1"/>
          <p:nvPr/>
        </p:nvSpPr>
        <p:spPr>
          <a:xfrm>
            <a:off x="548640" y="2103120"/>
            <a:ext cx="6080760" cy="3931920"/>
          </a:xfrm>
          <a:prstGeom prst="rect">
            <a:avLst/>
          </a:prstGeom>
          <a:noFill/>
        </p:spPr>
        <p:txBody>
          <a:bodyPr wrap="square" lIns="0" rIns="0" tIns="0" bIns="0">
            <a:spAutoFit/>
          </a:bodyPr>
          <a:lstStyle/>
          <a:p>
            <a:pPr>
              <a:lnSpc>
                <a:spcPct val="108000"/>
              </a:lnSpc>
              <a:spcAft>
                <a:spcPts val="1600"/>
              </a:spcAft>
            </a:pPr>
            <a:r>
              <a:rPr sz="1500" b="1">
                <a:solidFill>
                  <a:srgbClr val="1E293B"/>
                </a:solidFill>
                <a:latin typeface="Calibri"/>
              </a:rPr>
              <a:t>•  1. Noise's effect on attack success depends on attack strength.</a:t>
            </a:r>
            <a:r>
              <a:rPr sz="1500" b="0">
                <a:solidFill>
                  <a:srgbClr val="475569"/>
                </a:solidFill>
                <a:latin typeface="Calibri"/>
              </a:rPr>
              <a:t>  The closest prior work (Entropy, 2026) found depolarizing noise's effect on attack success to be non-monotonic across four datasets, at a fixed model. This thesis finds the same duality within one model and dataset, as a function of ε instead.</a:t>
            </a:r>
          </a:p>
          <a:p>
            <a:pPr>
              <a:lnSpc>
                <a:spcPct val="108000"/>
              </a:lnSpc>
              <a:spcAft>
                <a:spcPts val="1600"/>
              </a:spcAft>
            </a:pPr>
            <a:r>
              <a:rPr sz="1500" b="1">
                <a:solidFill>
                  <a:srgbClr val="1E293B"/>
                </a:solidFill>
                <a:latin typeface="Calibri"/>
              </a:rPr>
              <a:t>•  2. Clean accuracy and robustness under noise are partially independent.</a:t>
            </a:r>
            <a:r>
              <a:rPr sz="1500" b="0">
                <a:solidFill>
                  <a:srgbClr val="475569"/>
                </a:solidFill>
                <a:latin typeface="Calibri"/>
              </a:rPr>
              <a:t>  RQ(c)'s null result (r = 0.27, n.s.) means a noise condition that looks harmless on an accuracy dashboard can still be meaningfully changing how easy the model is to attack, or the reverse.</a:t>
            </a:r>
          </a:p>
        </p:txBody>
      </p:sp>
      <p:pic>
        <p:nvPicPr>
          <p:cNvPr id="7" name="Picture 6" descr="statistical_effect_sizes.png"/>
          <p:cNvPicPr>
            <a:picLocks noChangeAspect="1"/>
          </p:cNvPicPr>
          <p:nvPr/>
        </p:nvPicPr>
        <p:blipFill>
          <a:blip r:embed="rId2"/>
          <a:stretch>
            <a:fillRect/>
          </a:stretch>
        </p:blipFill>
        <p:spPr>
          <a:xfrm>
            <a:off x="6903720" y="2806700"/>
            <a:ext cx="4709160" cy="2616200"/>
          </a:xfrm>
          <a:prstGeom prst="rect">
            <a:avLst/>
          </a:prstGeom>
          <a:ln w="9525">
            <a:solidFill>
              <a:srgbClr val="E2E8F0"/>
            </a:solidFill>
          </a:ln>
        </p:spPr>
      </p:pic>
      <p:sp>
        <p:nvSpPr>
          <p:cNvPr id="8" name="TextBox 7"/>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Discussion</a:t>
            </a:r>
          </a:p>
        </p:txBody>
      </p:sp>
      <p:sp>
        <p:nvSpPr>
          <p:cNvPr id="9" name="TextBox 8"/>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LIMITATIONS</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What this scope does not cover</a:t>
            </a:r>
          </a:p>
        </p:txBody>
      </p:sp>
      <p:sp>
        <p:nvSpPr>
          <p:cNvPr id="6" name="TextBox 5"/>
          <p:cNvSpPr txBox="1"/>
          <p:nvPr/>
        </p:nvSpPr>
        <p:spPr>
          <a:xfrm>
            <a:off x="548640" y="2148840"/>
            <a:ext cx="10972800" cy="4023360"/>
          </a:xfrm>
          <a:prstGeom prst="rect">
            <a:avLst/>
          </a:prstGeom>
          <a:noFill/>
        </p:spPr>
        <p:txBody>
          <a:bodyPr wrap="square" lIns="0" rIns="0" tIns="0" bIns="0">
            <a:spAutoFit/>
          </a:bodyPr>
          <a:lstStyle/>
          <a:p>
            <a:pPr>
              <a:lnSpc>
                <a:spcPct val="108000"/>
              </a:lnSpc>
              <a:spcAft>
                <a:spcPts val="1300"/>
              </a:spcAft>
            </a:pPr>
            <a:r>
              <a:rPr sz="1500" b="1">
                <a:solidFill>
                  <a:srgbClr val="1E293B"/>
                </a:solidFill>
                <a:latin typeface="Calibri"/>
              </a:rPr>
              <a:t>•  Single dataset, 4 qubits:</a:t>
            </a:r>
            <a:r>
              <a:rPr sz="1500" b="0">
                <a:solidFill>
                  <a:srgbClr val="475569"/>
                </a:solidFill>
                <a:latin typeface="Calibri"/>
              </a:rPr>
              <a:t>  binary MNIST reduced to 4 PCA features. Results are conditional on this circuit family, encoding, and task difficulty.</a:t>
            </a:r>
          </a:p>
          <a:p>
            <a:pPr>
              <a:lnSpc>
                <a:spcPct val="108000"/>
              </a:lnSpc>
              <a:spcAft>
                <a:spcPts val="1300"/>
              </a:spcAft>
            </a:pPr>
            <a:r>
              <a:rPr sz="1500" b="1">
                <a:solidFill>
                  <a:srgbClr val="1E293B"/>
                </a:solidFill>
                <a:latin typeface="Calibri"/>
              </a:rPr>
              <a:t>•  Simulated, not physical, noise:</a:t>
            </a:r>
            <a:r>
              <a:rPr sz="1500" b="0">
                <a:solidFill>
                  <a:srgbClr val="475569"/>
                </a:solidFill>
                <a:latin typeface="Calibri"/>
              </a:rPr>
              <a:t>  all conditions ran through Qiskit Aer at illustrative, order-of-magnitude severity levels, not a named hardware backend.</a:t>
            </a:r>
          </a:p>
          <a:p>
            <a:pPr>
              <a:lnSpc>
                <a:spcPct val="108000"/>
              </a:lnSpc>
              <a:spcAft>
                <a:spcPts val="1300"/>
              </a:spcAft>
            </a:pPr>
            <a:r>
              <a:rPr sz="1500" b="1">
                <a:solidFill>
                  <a:srgbClr val="1E293B"/>
                </a:solidFill>
                <a:latin typeface="Calibri"/>
              </a:rPr>
              <a:t>•  Subsampled evaluation for the more expensive sweeps:</a:t>
            </a:r>
            <a:r>
              <a:rPr sz="1500" b="0">
                <a:solidFill>
                  <a:srgbClr val="475569"/>
                </a:solidFill>
                <a:latin typeface="Calibri"/>
              </a:rPr>
              <a:t>  500 points (FGSM, noise×attack), 300 (mitigation), 50 (PGD), versus the full 2,956-point test set used for the noise-only sweep.</a:t>
            </a:r>
          </a:p>
          <a:p>
            <a:pPr>
              <a:lnSpc>
                <a:spcPct val="108000"/>
              </a:lnSpc>
              <a:spcAft>
                <a:spcPts val="1300"/>
              </a:spcAft>
            </a:pPr>
            <a:r>
              <a:rPr sz="1500" b="1">
                <a:solidFill>
                  <a:srgbClr val="1E293B"/>
                </a:solidFill>
                <a:latin typeface="Calibri"/>
              </a:rPr>
              <a:t>•  No adaptive noise-aware attacker:</a:t>
            </a:r>
            <a:r>
              <a:rPr sz="1500" b="0">
                <a:solidFill>
                  <a:srgbClr val="475569"/>
                </a:solidFill>
                <a:latin typeface="Calibri"/>
              </a:rPr>
              <a:t>  adversarial examples were generated against the clean model and transferred to noisy conditions. Whether an attacker that knew the noise level in advance could recover the “lost” attack success at ε = 0.05 is untested: the single most consequential open question this thesis leaves.</a:t>
            </a:r>
          </a:p>
          <a:p>
            <a:pPr>
              <a:lnSpc>
                <a:spcPct val="108000"/>
              </a:lnSpc>
              <a:spcAft>
                <a:spcPts val="1300"/>
              </a:spcAft>
            </a:pPr>
            <a:r>
              <a:rPr sz="1500" b="1">
                <a:solidFill>
                  <a:srgbClr val="1E293B"/>
                </a:solidFill>
                <a:latin typeface="Calibri"/>
              </a:rPr>
              <a:t>•  8 seeds:</a:t>
            </a:r>
            <a:r>
              <a:rPr sz="1500" b="0">
                <a:solidFill>
                  <a:srgbClr val="475569"/>
                </a:solidFill>
                <a:latin typeface="Calibri"/>
              </a:rPr>
              <a:t>  sufficient for a valid paired Wilcoxon test, but limited power for small effects, most relevant to RQ(c)'s null result.</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Limitations</a:t>
            </a:r>
          </a:p>
        </p:txBody>
      </p:sp>
      <p:sp>
        <p:nvSpPr>
          <p:cNvPr id="8" name="TextBox 7"/>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CONCLUSION</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Noise's effect on robustness is conditional, not a single verdict</a:t>
            </a:r>
          </a:p>
        </p:txBody>
      </p:sp>
      <p:sp>
        <p:nvSpPr>
          <p:cNvPr id="6" name="TextBox 5"/>
          <p:cNvSpPr txBox="1"/>
          <p:nvPr/>
        </p:nvSpPr>
        <p:spPr>
          <a:xfrm>
            <a:off x="548640" y="2103120"/>
            <a:ext cx="10972800" cy="2560320"/>
          </a:xfrm>
          <a:prstGeom prst="rect">
            <a:avLst/>
          </a:prstGeom>
          <a:noFill/>
        </p:spPr>
        <p:txBody>
          <a:bodyPr wrap="square" lIns="0" rIns="0" tIns="0" bIns="0">
            <a:spAutoFit/>
          </a:bodyPr>
          <a:lstStyle/>
          <a:p>
            <a:pPr>
              <a:lnSpc>
                <a:spcPct val="108000"/>
              </a:lnSpc>
              <a:spcAft>
                <a:spcPts val="1100"/>
              </a:spcAft>
            </a:pPr>
            <a:r>
              <a:rPr sz="1550" b="0">
                <a:solidFill>
                  <a:srgbClr val="475569"/>
                </a:solidFill>
                <a:latin typeface="Calibri"/>
              </a:rPr>
              <a:t>•  Depolarizing noise dominates the other two channels, and its effect on attack success flips sign specifically at the model's most vulnerable epsilon.</a:t>
            </a:r>
          </a:p>
          <a:p>
            <a:pPr>
              <a:lnSpc>
                <a:spcPct val="108000"/>
              </a:lnSpc>
              <a:spcAft>
                <a:spcPts val="1100"/>
              </a:spcAft>
            </a:pPr>
            <a:r>
              <a:rPr sz="1550" b="0">
                <a:solidFill>
                  <a:srgbClr val="475569"/>
                </a:solidFill>
                <a:latin typeface="Calibri"/>
              </a:rPr>
              <a:t>•  Clean accuracy and robustness under noise behave as partially independent properties, not one tracking the other.</a:t>
            </a:r>
          </a:p>
          <a:p>
            <a:pPr>
              <a:lnSpc>
                <a:spcPct val="108000"/>
              </a:lnSpc>
              <a:spcAft>
                <a:spcPts val="1100"/>
              </a:spcAft>
            </a:pPr>
            <a:r>
              <a:rPr sz="1550" b="0">
                <a:solidFill>
                  <a:srgbClr val="475569"/>
                </a:solidFill>
                <a:latin typeface="Calibri"/>
              </a:rPr>
              <a:t>•  Neither tested mitigation technique recovered any of the lost robustness.</a:t>
            </a:r>
          </a:p>
          <a:p>
            <a:pPr>
              <a:lnSpc>
                <a:spcPct val="108000"/>
              </a:lnSpc>
              <a:spcAft>
                <a:spcPts val="1100"/>
              </a:spcAft>
            </a:pPr>
            <a:r>
              <a:rPr sz="1550" b="0">
                <a:solidFill>
                  <a:srgbClr val="475569"/>
                </a:solidFill>
                <a:latin typeface="Calibri"/>
              </a:rPr>
              <a:t>•  The hybrid model has a double disadvantage against a matched classical baseline at this scale, not a tradeoff.</a:t>
            </a:r>
          </a:p>
        </p:txBody>
      </p:sp>
      <p:sp>
        <p:nvSpPr>
          <p:cNvPr id="7" name="TextBox 6"/>
          <p:cNvSpPr txBox="1"/>
          <p:nvPr/>
        </p:nvSpPr>
        <p:spPr>
          <a:xfrm>
            <a:off x="548640" y="4709160"/>
            <a:ext cx="10972800" cy="36576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FUTURE WORK</a:t>
            </a:r>
          </a:p>
        </p:txBody>
      </p:sp>
      <p:sp>
        <p:nvSpPr>
          <p:cNvPr id="8" name="TextBox 7"/>
          <p:cNvSpPr txBox="1"/>
          <p:nvPr/>
        </p:nvSpPr>
        <p:spPr>
          <a:xfrm>
            <a:off x="548640" y="5120640"/>
            <a:ext cx="10972800" cy="1463040"/>
          </a:xfrm>
          <a:prstGeom prst="rect">
            <a:avLst/>
          </a:prstGeom>
          <a:noFill/>
        </p:spPr>
        <p:txBody>
          <a:bodyPr wrap="square" lIns="0" rIns="0" tIns="0" bIns="0">
            <a:spAutoFit/>
          </a:bodyPr>
          <a:lstStyle/>
          <a:p>
            <a:pPr>
              <a:lnSpc>
                <a:spcPct val="108000"/>
              </a:lnSpc>
              <a:spcAft>
                <a:spcPts val="800"/>
              </a:spcAft>
            </a:pPr>
            <a:r>
              <a:rPr sz="1400" b="0">
                <a:solidFill>
                  <a:srgbClr val="475569"/>
                </a:solidFill>
                <a:latin typeface="Calibri"/>
              </a:rPr>
              <a:t>•  Test an adaptive, noise-aware attacker against the ε = 0.05 suppression effect.</a:t>
            </a:r>
          </a:p>
          <a:p>
            <a:pPr>
              <a:lnSpc>
                <a:spcPct val="108000"/>
              </a:lnSpc>
              <a:spcAft>
                <a:spcPts val="800"/>
              </a:spcAft>
            </a:pPr>
            <a:r>
              <a:rPr sz="1400" b="0">
                <a:solidFill>
                  <a:srgbClr val="475569"/>
                </a:solidFill>
                <a:latin typeface="Calibri"/>
              </a:rPr>
              <a:t>•  Validate on physical NISQ hardware; test a deeper or data-reuploading VQC to separate architecture effects from under-training.</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Conclusion &amp; Future Work</a:t>
            </a:r>
          </a:p>
        </p:txBody>
      </p:sp>
      <p:sp>
        <p:nvSpPr>
          <p:cNvPr id="10" name="TextBox 9"/>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834640"/>
            <a:ext cx="10515600" cy="914400"/>
          </a:xfrm>
          <a:prstGeom prst="rect">
            <a:avLst/>
          </a:prstGeom>
          <a:noFill/>
        </p:spPr>
        <p:txBody>
          <a:bodyPr wrap="square" anchor="t" lIns="0" rIns="0" tIns="0" bIns="0">
            <a:spAutoFit/>
          </a:bodyPr>
          <a:lstStyle/>
          <a:p>
            <a:pPr algn="l">
              <a:lnSpc>
                <a:spcPct val="100000"/>
              </a:lnSpc>
              <a:spcAft>
                <a:spcPts val="0"/>
              </a:spcAft>
            </a:pPr>
            <a:r>
              <a:rPr sz="3600" b="1" i="0">
                <a:solidFill>
                  <a:srgbClr val="FFFFFF"/>
                </a:solidFill>
                <a:latin typeface="Calibri"/>
              </a:rPr>
              <a:t>Thank you</a:t>
            </a:r>
          </a:p>
        </p:txBody>
      </p:sp>
      <p:sp>
        <p:nvSpPr>
          <p:cNvPr id="4" name="TextBox 3"/>
          <p:cNvSpPr txBox="1"/>
          <p:nvPr/>
        </p:nvSpPr>
        <p:spPr>
          <a:xfrm>
            <a:off x="822960" y="3657600"/>
            <a:ext cx="10515600" cy="548640"/>
          </a:xfrm>
          <a:prstGeom prst="rect">
            <a:avLst/>
          </a:prstGeom>
          <a:noFill/>
        </p:spPr>
        <p:txBody>
          <a:bodyPr wrap="square" anchor="t" lIns="0" rIns="0" tIns="0" bIns="0">
            <a:spAutoFit/>
          </a:bodyPr>
          <a:lstStyle/>
          <a:p>
            <a:pPr algn="l">
              <a:lnSpc>
                <a:spcPct val="100000"/>
              </a:lnSpc>
              <a:spcAft>
                <a:spcPts val="0"/>
              </a:spcAft>
            </a:pPr>
            <a:r>
              <a:rPr sz="2000" b="0" i="0">
                <a:solidFill>
                  <a:srgbClr val="B9C4D4"/>
                </a:solidFill>
                <a:latin typeface="Calibri"/>
              </a:rPr>
              <a:t>Questions?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017520"/>
            <a:ext cx="10058400" cy="91440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Calibri"/>
              </a:rPr>
              <a:t>Backup Slides</a:t>
            </a:r>
          </a:p>
        </p:txBody>
      </p:sp>
      <p:sp>
        <p:nvSpPr>
          <p:cNvPr id="4" name="TextBox 3"/>
          <p:cNvSpPr txBox="1"/>
          <p:nvPr/>
        </p:nvSpPr>
        <p:spPr>
          <a:xfrm>
            <a:off x="822960" y="3794760"/>
            <a:ext cx="10058400" cy="457200"/>
          </a:xfrm>
          <a:prstGeom prst="rect">
            <a:avLst/>
          </a:prstGeom>
          <a:noFill/>
        </p:spPr>
        <p:txBody>
          <a:bodyPr wrap="square" anchor="t" lIns="0" rIns="0" tIns="0" bIns="0">
            <a:spAutoFit/>
          </a:bodyPr>
          <a:lstStyle/>
          <a:p>
            <a:pPr algn="l">
              <a:lnSpc>
                <a:spcPct val="100000"/>
              </a:lnSpc>
              <a:spcAft>
                <a:spcPts val="0"/>
              </a:spcAft>
            </a:pPr>
            <a:r>
              <a:rPr sz="1500" b="0" i="0">
                <a:solidFill>
                  <a:srgbClr val="B9C4D4"/>
                </a:solidFill>
                <a:latin typeface="Calibri"/>
              </a:rPr>
              <a:t>Not part of the timed talk: held in reserve for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BACKUP · ANTICIPATED QUESTION: WHY NOT...</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Three alternative designs considered, and why each was set aside</a:t>
            </a:r>
          </a:p>
        </p:txBody>
      </p:sp>
      <p:sp>
        <p:nvSpPr>
          <p:cNvPr id="6" name="TextBox 5"/>
          <p:cNvSpPr txBox="1"/>
          <p:nvPr/>
        </p:nvSpPr>
        <p:spPr>
          <a:xfrm>
            <a:off x="548640" y="2148840"/>
            <a:ext cx="10972800" cy="4023360"/>
          </a:xfrm>
          <a:prstGeom prst="rect">
            <a:avLst/>
          </a:prstGeom>
          <a:noFill/>
        </p:spPr>
        <p:txBody>
          <a:bodyPr wrap="square" lIns="0" rIns="0" tIns="0" bIns="0">
            <a:spAutoFit/>
          </a:bodyPr>
          <a:lstStyle/>
          <a:p>
            <a:pPr>
              <a:lnSpc>
                <a:spcPct val="108000"/>
              </a:lnSpc>
              <a:spcAft>
                <a:spcPts val="1400"/>
              </a:spcAft>
            </a:pPr>
            <a:r>
              <a:rPr sz="1500" b="1">
                <a:solidFill>
                  <a:srgbClr val="1E293B"/>
                </a:solidFill>
                <a:latin typeface="Calibri"/>
              </a:rPr>
              <a:t>•  An adaptive, noise-aware attacker</a:t>
            </a:r>
            <a:r>
              <a:rPr sz="1500" b="0">
                <a:solidFill>
                  <a:srgbClr val="475569"/>
                </a:solidFill>
                <a:latin typeface="Calibri"/>
              </a:rPr>
              <a:t>  (differentiating through the noisy, shot-based forward pass directly, instead of transferring a fixed attack) would answer a related but different question. It requires differentiating through a stochastic simulation: a substantially larger undertaking than the parameter-shift differentiation used here, and out of scope for this timeline.</a:t>
            </a:r>
          </a:p>
          <a:p>
            <a:pPr>
              <a:lnSpc>
                <a:spcPct val="108000"/>
              </a:lnSpc>
              <a:spcAft>
                <a:spcPts val="1400"/>
              </a:spcAft>
            </a:pPr>
            <a:r>
              <a:rPr sz="1500" b="1">
                <a:solidFill>
                  <a:srgbClr val="1E293B"/>
                </a:solidFill>
                <a:latin typeface="Calibri"/>
              </a:rPr>
              <a:t>•  Real quantum hardware</a:t>
            </a:r>
            <a:r>
              <a:rPr sz="1500" b="0">
                <a:solidFill>
                  <a:srgbClr val="475569"/>
                </a:solidFill>
                <a:latin typeface="Calibri"/>
              </a:rPr>
              <a:t>  instead of Qiskit Aer simulation would strengthen external validity, but queue time and cost make an 8-seed × multi-noise-level × multi-epsilon grid unrealistic within the time available.</a:t>
            </a:r>
          </a:p>
          <a:p>
            <a:pPr>
              <a:lnSpc>
                <a:spcPct val="108000"/>
              </a:lnSpc>
              <a:spcAft>
                <a:spcPts val="1400"/>
              </a:spcAft>
            </a:pPr>
            <a:r>
              <a:rPr sz="1500" b="1">
                <a:solidFill>
                  <a:srgbClr val="1E293B"/>
                </a:solidFill>
                <a:latin typeface="Calibri"/>
              </a:rPr>
              <a:t>•  Amplitude encoding</a:t>
            </a:r>
            <a:r>
              <a:rPr sz="1500" b="0">
                <a:solidFill>
                  <a:srgbClr val="475569"/>
                </a:solidFill>
                <a:latin typeface="Calibri"/>
              </a:rPr>
              <a:t>  instead of the angle-style ZZFeatureMap was considered, since the SoK literature found encoding choice changes the accuracy/robustness tradeoff substantially. Angle encoding was kept because it matches the qubit-efficient design in the approved proposal, and because amplitude encoding's noise sensitivity would confound the noise-channel comparison (RQ a) with an encoding effect this thesis isn't trying to measure.</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Backup</a:t>
            </a:r>
          </a:p>
        </p:txBody>
      </p:sp>
      <p:sp>
        <p:nvSpPr>
          <p:cNvPr id="8" name="TextBox 7"/>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D9488"/>
                </a:solidFill>
                <a:latin typeface="Calibri"/>
              </a:rPr>
              <a:t>BACKUP · ANTICIPATED QUESTION: RIGOR &amp; REPRODUCIBILITY</a:t>
            </a:r>
          </a:p>
        </p:txBody>
      </p:sp>
      <p:sp>
        <p:nvSpPr>
          <p:cNvPr id="4" name="Rectangle 3"/>
          <p:cNvSpPr/>
          <p:nvPr/>
        </p:nvSpPr>
        <p:spPr>
          <a:xfrm>
            <a:off x="548640" y="804672"/>
            <a:ext cx="50292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68680"/>
            <a:ext cx="11064240" cy="1051560"/>
          </a:xfrm>
          <a:prstGeom prst="rect">
            <a:avLst/>
          </a:prstGeom>
          <a:noFill/>
        </p:spPr>
        <p:txBody>
          <a:bodyPr wrap="square" anchor="t" lIns="0" rIns="0" tIns="0" bIns="0">
            <a:spAutoFit/>
          </a:bodyPr>
          <a:lstStyle/>
          <a:p>
            <a:pPr algn="l">
              <a:lnSpc>
                <a:spcPct val="105000"/>
              </a:lnSpc>
              <a:spcAft>
                <a:spcPts val="0"/>
              </a:spcAft>
            </a:pPr>
            <a:r>
              <a:rPr sz="2700" b="1" i="0">
                <a:solidFill>
                  <a:srgbClr val="1E293B"/>
                </a:solidFill>
                <a:latin typeface="Calibri"/>
              </a:rPr>
              <a:t>Two bugs caught and fixed during development</a:t>
            </a:r>
          </a:p>
        </p:txBody>
      </p:sp>
      <p:sp>
        <p:nvSpPr>
          <p:cNvPr id="6" name="TextBox 5"/>
          <p:cNvSpPr txBox="1"/>
          <p:nvPr/>
        </p:nvSpPr>
        <p:spPr>
          <a:xfrm>
            <a:off x="548640" y="2148840"/>
            <a:ext cx="10972800" cy="4023360"/>
          </a:xfrm>
          <a:prstGeom prst="rect">
            <a:avLst/>
          </a:prstGeom>
          <a:noFill/>
        </p:spPr>
        <p:txBody>
          <a:bodyPr wrap="square" lIns="0" rIns="0" tIns="0" bIns="0">
            <a:spAutoFit/>
          </a:bodyPr>
          <a:lstStyle/>
          <a:p>
            <a:pPr>
              <a:lnSpc>
                <a:spcPct val="108000"/>
              </a:lnSpc>
              <a:spcAft>
                <a:spcPts val="1600"/>
              </a:spcAft>
            </a:pPr>
            <a:r>
              <a:rPr sz="1550" b="1">
                <a:solidFill>
                  <a:srgbClr val="1E293B"/>
                </a:solidFill>
                <a:latin typeface="Calibri"/>
              </a:rPr>
              <a:t>•  An early classical baseline was trained on the wrong task:</a:t>
            </a:r>
            <a:r>
              <a:rPr sz="1550" b="0">
                <a:solidFill>
                  <a:srgbClr val="475569"/>
                </a:solidFill>
                <a:latin typeface="Calibri"/>
              </a:rPr>
              <a:t>  the full 10-class, raw-pixel MNIST problem instead of the binary, 4-PCA-feature task, and reached just 12% accuracy. Caught before it was used for any comparison, fully replaced by the matched baseline in Section 3.3, and archived rather than silently deleted.</a:t>
            </a:r>
          </a:p>
          <a:p>
            <a:pPr>
              <a:lnSpc>
                <a:spcPct val="108000"/>
              </a:lnSpc>
              <a:spcAft>
                <a:spcPts val="1600"/>
              </a:spcAft>
            </a:pPr>
            <a:r>
              <a:rPr sz="1550" b="1">
                <a:solidFill>
                  <a:srgbClr val="1E293B"/>
                </a:solidFill>
                <a:latin typeface="Calibri"/>
              </a:rPr>
              <a:t>•  A weight-initialization bug in TorchConnector:</a:t>
            </a:r>
            <a:r>
              <a:rPr sz="1550" b="0">
                <a:solidFill>
                  <a:srgbClr val="475569"/>
                </a:solidFill>
                <a:latin typeface="Calibri"/>
              </a:rPr>
              <a:t>  the framework drew initial ansatz weights from PyTorch's global RNG, not from the seed passed to the model, so two “same-seed” model instances actually started from different initial weights. Fixed by drawing weights from a local, seed-scoped NumPy generator; a regression test now confirms two same-seed instantiations produce bit-identical output.</a:t>
            </a:r>
          </a:p>
        </p:txBody>
      </p:sp>
      <p:sp>
        <p:nvSpPr>
          <p:cNvPr id="7" name="TextBox 6"/>
          <p:cNvSpPr txBox="1"/>
          <p:nvPr/>
        </p:nvSpPr>
        <p:spPr>
          <a:xfrm>
            <a:off x="548640" y="5212080"/>
            <a:ext cx="10972800" cy="731520"/>
          </a:xfrm>
          <a:prstGeom prst="rect">
            <a:avLst/>
          </a:prstGeom>
          <a:noFill/>
        </p:spPr>
        <p:txBody>
          <a:bodyPr wrap="square" anchor="t" lIns="0" rIns="0" tIns="0" bIns="0">
            <a:spAutoFit/>
          </a:bodyPr>
          <a:lstStyle/>
          <a:p>
            <a:pPr algn="l">
              <a:lnSpc>
                <a:spcPct val="100000"/>
              </a:lnSpc>
              <a:spcAft>
                <a:spcPts val="0"/>
              </a:spcAft>
            </a:pPr>
            <a:r>
              <a:rPr sz="1350" b="0" i="1">
                <a:solidFill>
                  <a:srgbClr val="475569"/>
                </a:solidFill>
                <a:latin typeface="Calibri"/>
              </a:rPr>
              <a:t>Both are logged in the project's archive and git history rather than quietly corrected: the multi-seed statistics in this thesis only mean something if seed-to-seed variance is real training stochasticity, not accidental non-determinism.</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A94A6"/>
                </a:solidFill>
                <a:latin typeface="Calibri"/>
              </a:rPr>
              <a:t>Backup</a:t>
            </a:r>
          </a:p>
        </p:txBody>
      </p:sp>
      <p:sp>
        <p:nvSpPr>
          <p:cNvPr id="9" name="TextBox 8"/>
          <p:cNvSpPr txBox="1"/>
          <p:nvPr/>
        </p:nvSpPr>
        <p:spPr>
          <a:xfrm>
            <a:off x="11094415" y="6446520"/>
            <a:ext cx="640080" cy="274320"/>
          </a:xfrm>
          <a:prstGeom prst="rect">
            <a:avLst/>
          </a:prstGeom>
          <a:noFill/>
        </p:spPr>
        <p:txBody>
          <a:bodyPr wrap="square" anchor="t" lIns="0" rIns="0" tIns="0" bIns="0">
            <a:spAutoFit/>
          </a:bodyPr>
          <a:lstStyle/>
          <a:p>
            <a:pPr algn="r">
              <a:lnSpc>
                <a:spcPct val="100000"/>
              </a:lnSpc>
              <a:spcAft>
                <a:spcPts val="0"/>
              </a:spcAft>
            </a:pPr>
            <a:r>
              <a:rPr sz="1000" b="0" i="0">
                <a:solidFill>
                  <a:srgbClr val="8A94A6"/>
                </a:solidFill>
                <a:latin typeface="Calibri"/>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